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1c56c5860e4507" /><Relationship Type="http://schemas.openxmlformats.org/officeDocument/2006/relationships/extended-properties" Target="/docProps/app.xml" Id="R56e882a8c0054129" /><Relationship Type="http://schemas.openxmlformats.org/officeDocument/2006/relationships/officeDocument" Target="/ppt/presentation.xml" Id="R7bc7cb0dc8d341de" /></Relationships>
</file>

<file path=ppt/presentation.xml><?xml version="1.0" encoding="utf-8"?>
<p:presentation xmlns:p="http://schemas.openxmlformats.org/presentationml/2006/main">
  <p:sldMasterIdLst>
    <p:sldMasterId xmlns:r="http://schemas.openxmlformats.org/officeDocument/2006/relationships" id="2147483648" r:id="R27293512034643d8"/>
  </p:sldMasterIdLst>
  <p:notesMasterIdLst>
    <p:notesMasterId xmlns:r="http://schemas.openxmlformats.org/officeDocument/2006/relationships" r:id="R51ca495fdfd54773"/>
  </p:notesMasterIdLst>
  <p:sldIdLst>
    <p:sldId xmlns:r="http://schemas.openxmlformats.org/officeDocument/2006/relationships" id="256" r:id="R1add8505f6da4dfc"/>
    <p:sldId xmlns:r="http://schemas.openxmlformats.org/officeDocument/2006/relationships" id="257" r:id="R55f141c101574099"/>
    <p:sldId xmlns:r="http://schemas.openxmlformats.org/officeDocument/2006/relationships" id="258" r:id="Raf3a06e27ede4026"/>
    <p:sldId xmlns:r="http://schemas.openxmlformats.org/officeDocument/2006/relationships" id="259" r:id="R5fd53d960b404d57"/>
    <p:sldId xmlns:r="http://schemas.openxmlformats.org/officeDocument/2006/relationships" id="260" r:id="Rb3c4ec38ef204bf4"/>
    <p:sldId xmlns:r="http://schemas.openxmlformats.org/officeDocument/2006/relationships" id="261" r:id="Rc3ec216acd48481f"/>
    <p:sldId xmlns:r="http://schemas.openxmlformats.org/officeDocument/2006/relationships" id="262" r:id="R992d691ebf524098"/>
    <p:sldId xmlns:r="http://schemas.openxmlformats.org/officeDocument/2006/relationships" id="263" r:id="Rdbf0f73790f84fef"/>
    <p:sldId xmlns:r="http://schemas.openxmlformats.org/officeDocument/2006/relationships" id="264" r:id="Rea5451692ffc4fb9"/>
    <p:sldId xmlns:r="http://schemas.openxmlformats.org/officeDocument/2006/relationships" id="265" r:id="R26f57e80e3e144ee"/>
    <p:sldId xmlns:r="http://schemas.openxmlformats.org/officeDocument/2006/relationships" id="266" r:id="Rad1888b79f7f42ae"/>
    <p:sldId xmlns:r="http://schemas.openxmlformats.org/officeDocument/2006/relationships" id="267" r:id="Reec012599bea4d03"/>
    <p:sldId xmlns:r="http://schemas.openxmlformats.org/officeDocument/2006/relationships" id="268" r:id="R1886199565e84178"/>
    <p:sldId xmlns:r="http://schemas.openxmlformats.org/officeDocument/2006/relationships" id="269" r:id="R834c5e83f55c427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0da41372cc48ff" /><Relationship Type="http://schemas.openxmlformats.org/officeDocument/2006/relationships/slideMaster" Target="/ppt/slideMasters/slideMaster1.xml" Id="R27293512034643d8" /><Relationship Type="http://schemas.openxmlformats.org/officeDocument/2006/relationships/notesMaster" Target="/ppt/notesMasters/notesMaster1.xml" Id="R51ca495fdfd54773" /><Relationship Type="http://schemas.openxmlformats.org/officeDocument/2006/relationships/presProps" Target="/ppt/presProps.xml" Id="Ra2521a56e0914954" /><Relationship Type="http://schemas.openxmlformats.org/officeDocument/2006/relationships/tableStyles" Target="/ppt/tableStyles.xml" Id="R63f5d3b97b7c459e" /><Relationship Type="http://schemas.openxmlformats.org/officeDocument/2006/relationships/slide" Target="/ppt/slides/slide1.xml" Id="R1add8505f6da4dfc" /><Relationship Type="http://schemas.openxmlformats.org/officeDocument/2006/relationships/slide" Target="/ppt/slides/slide2.xml" Id="R55f141c101574099" /><Relationship Type="http://schemas.openxmlformats.org/officeDocument/2006/relationships/slide" Target="/ppt/slides/slide3.xml" Id="Raf3a06e27ede4026" /><Relationship Type="http://schemas.openxmlformats.org/officeDocument/2006/relationships/slide" Target="/ppt/slides/slide4.xml" Id="R5fd53d960b404d57" /><Relationship Type="http://schemas.openxmlformats.org/officeDocument/2006/relationships/slide" Target="/ppt/slides/slide5.xml" Id="Rb3c4ec38ef204bf4" /><Relationship Type="http://schemas.openxmlformats.org/officeDocument/2006/relationships/slide" Target="/ppt/slides/slide6.xml" Id="Rc3ec216acd48481f" /><Relationship Type="http://schemas.openxmlformats.org/officeDocument/2006/relationships/slide" Target="/ppt/slides/slide7.xml" Id="R992d691ebf524098" /><Relationship Type="http://schemas.openxmlformats.org/officeDocument/2006/relationships/slide" Target="/ppt/slides/slide8.xml" Id="Rdbf0f73790f84fef" /><Relationship Type="http://schemas.openxmlformats.org/officeDocument/2006/relationships/slide" Target="/ppt/slides/slide9.xml" Id="Rea5451692ffc4fb9" /><Relationship Type="http://schemas.openxmlformats.org/officeDocument/2006/relationships/slide" Target="/ppt/slides/slide10.xml" Id="R26f57e80e3e144ee" /><Relationship Type="http://schemas.openxmlformats.org/officeDocument/2006/relationships/slide" Target="/ppt/slides/slide11.xml" Id="Rad1888b79f7f42ae" /><Relationship Type="http://schemas.openxmlformats.org/officeDocument/2006/relationships/slide" Target="/ppt/slides/slide12.xml" Id="Reec012599bea4d03" /><Relationship Type="http://schemas.openxmlformats.org/officeDocument/2006/relationships/slide" Target="/ppt/slides/slide13.xml" Id="R1886199565e84178" /><Relationship Type="http://schemas.openxmlformats.org/officeDocument/2006/relationships/slide" Target="/ppt/slides/slide14.xml" Id="R834c5e83f55c42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dc255071c141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0d7e73c2de4276" /><Relationship Type="http://schemas.openxmlformats.org/officeDocument/2006/relationships/notesMaster" Target="/ppt/notesMasters/notesMaster1.xml" Id="Rfa324e1b286444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77d0d258784b60" /><Relationship Type="http://schemas.openxmlformats.org/officeDocument/2006/relationships/notesMaster" Target="/ppt/notesMasters/notesMaster1.xml" Id="Rd701e2b2422046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c149b976434db5" /><Relationship Type="http://schemas.openxmlformats.org/officeDocument/2006/relationships/notesMaster" Target="/ppt/notesMasters/notesMaster1.xml" Id="R2e8359aba01b40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39f4db938040ad" /><Relationship Type="http://schemas.openxmlformats.org/officeDocument/2006/relationships/notesMaster" Target="/ppt/notesMasters/notesMaster1.xml" Id="R161a11b9a4c149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667d38f1bf46df" /><Relationship Type="http://schemas.openxmlformats.org/officeDocument/2006/relationships/notesMaster" Target="/ppt/notesMasters/notesMaster1.xml" Id="R0cfb2d3ca06545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4d9f6af8f34281" /><Relationship Type="http://schemas.openxmlformats.org/officeDocument/2006/relationships/notesMaster" Target="/ppt/notesMasters/notesMaster1.xml" Id="Rbae537947bfc47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6d629f912140b7" /><Relationship Type="http://schemas.openxmlformats.org/officeDocument/2006/relationships/notesMaster" Target="/ppt/notesMasters/notesMaster1.xml" Id="R82097c8cb17240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6bbaf43b5041b1" /><Relationship Type="http://schemas.openxmlformats.org/officeDocument/2006/relationships/notesMaster" Target="/ppt/notesMasters/notesMaster1.xml" Id="R8073af691d4f45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654a68faf147e8" /><Relationship Type="http://schemas.openxmlformats.org/officeDocument/2006/relationships/notesMaster" Target="/ppt/notesMasters/notesMaster1.xml" Id="R540ffe57da9840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1bbbbac5a04bdb" /><Relationship Type="http://schemas.openxmlformats.org/officeDocument/2006/relationships/notesMaster" Target="/ppt/notesMasters/notesMaster1.xml" Id="Rfbca4d71d36849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28e7a173ae4b19" /><Relationship Type="http://schemas.openxmlformats.org/officeDocument/2006/relationships/notesMaster" Target="/ppt/notesMasters/notesMaster1.xml" Id="Rd378ef6f26294d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00fc60c5f6495a" /><Relationship Type="http://schemas.openxmlformats.org/officeDocument/2006/relationships/notesMaster" Target="/ppt/notesMasters/notesMaster1.xml" Id="Rd4710796f8c044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5e7f0e710d4332" /><Relationship Type="http://schemas.openxmlformats.org/officeDocument/2006/relationships/notesMaster" Target="/ppt/notesMasters/notesMaster1.xml" Id="R387405ab30c34f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7384af7b034435" /><Relationship Type="http://schemas.openxmlformats.org/officeDocument/2006/relationships/notesMaster" Target="/ppt/notesMasters/notesMaster1.xml" Id="Rebaca187209f4a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Nhóm em nghiên cứu mối liên hệ giữa khoảng cách từ chỗ ở đến trường và giá thuê hàng tháng.</a:t>
            </a:r>
          </a:p>
          <a:p xmlns:a="http://schemas.openxmlformats.org/drawingml/2006/main">
            <a:r>
              <a:t>Biến X là khoảng cách tính bằng km; biến Y là giá thuê tính bằng triệu đồng mỗi tháng.</a:t>
            </a:r>
          </a:p>
          <a:p xmlns:a="http://schemas.openxmlformats.org/drawingml/2006/main">
            <a:r>
              <a:t>Toàn bộ kết quả trong slide được đối chiếu trực tiếp với file Excel đi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quy trình thực tế nhóm đã làm và cũng là thứ tự nhóm sẽ trình bày.</a:t>
            </a:r>
          </a:p>
          <a:p xmlns:a="http://schemas.openxmlformats.org/drawingml/2006/main">
            <a:r>
              <a:t>Nhóm không chạy hồi quy ngay; trước hết phải chứng minh dữ liệu đủ sạch và mẫu phù hợp với câu hỏi nghiên cứu.</a:t>
            </a:r>
          </a:p>
          <a:p xmlns:a="http://schemas.openxmlformats.org/drawingml/2006/main">
            <a:r>
              <a:t>Sau khi ước lượng, nhóm mới kiểm định ý nghĩa và dùng mô hình để dự báo.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Trước khi trình bày, thay bốn ô [Tên] bằng tên thật và điều chỉnh đúng phần mỗi người thực sự làm.</a:t>
            </a:r>
          </a:p>
          <a:p xmlns:a="http://schemas.openxmlformats.org/drawingml/2006/main">
            <a:r>
              <a:t>Mỗi thành viên nói một câu ngắn về phần mình và chỉ ngay sheet hoặc slide là đầu ra của phần đó.</a:t>
            </a:r>
          </a:p>
          <a:p xmlns:a="http://schemas.openxmlformats.org/drawingml/2006/main">
            <a:r>
              <a:t>Cách này đáp ứng yêu cầu của thầy về việc nêu rõ công việc cá nhân trong nhóm.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kiểm tra số dòng, ô trống, trùng mã sinh viên và phạm vi hợp lý của các biến số.</a:t>
            </a:r>
          </a:p>
          <a:p xmlns:a="http://schemas.openxmlformats.org/drawingml/2006/main">
            <a:r>
              <a:t>Kết quả đều đạt: 76 dòng, không thiếu dữ liệu, không trùng mã, không có giá trị số ngoài ngưỡng.</a:t>
            </a:r>
          </a:p>
          <a:p xmlns:a="http://schemas.openxmlformats.org/drawingml/2006/main">
            <a:r>
              <a:t>Các công thức kiểm tra chi tiết nằm trong sheet KiemTraDuLieu.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Điểm quan trọng nhất là nhóm không tự bịa dữ liệu.</a:t>
            </a:r>
          </a:p>
          <a:p xmlns:a="http://schemas.openxmlformats.org/drawingml/2006/main">
            <a:r>
              <a:t>Lỗi định dạng chỉ được sửa khi giá trị đúng có thể suy ra chắc chắn; dữ liệu thiếu bắt buộc hoặc phi lý sẽ bị loại.</a:t>
            </a:r>
          </a:p>
          <a:p xmlns:a="http://schemas.openxmlformats.org/drawingml/2006/main">
            <a:r>
              <a:t>Sau quy trình này, file mẫu sạch mới được dùng cho thống kê và hồi quy.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quyết định quan trọng nhất về phạm vi mô hình.</a:t>
            </a:r>
          </a:p>
          <a:p xmlns:a="http://schemas.openxmlformats.org/drawingml/2006/main">
            <a:r>
              <a:t>Nếu gộp KTX, hệ số góc thành dương 0.0565 vì KTX vừa gần vừa rẻ.</a:t>
            </a:r>
          </a:p>
          <a:p xmlns:a="http://schemas.openxmlformats.org/drawingml/2006/main">
            <a:r>
              <a:t>Khi chỉ xét 59 phòng trọ ngoài, hệ số trở lại âm -0.1457, phù hợp cơ chế giá thị trường.</a:t>
            </a:r>
          </a:p>
          <a:p xmlns:a="http://schemas.openxmlformats.org/drawingml/2006/main">
            <a:r>
              <a:t>Nhóm vẫn giữ KTX trong thống kê mô tả để minh bạch.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mô tả cho thấy Hòa Lạc xa hơn và có giá trung bình thấp hơn.</a:t>
            </a:r>
          </a:p>
          <a:p xmlns:a="http://schemas.openxmlformats.org/drawingml/2006/main">
            <a:r>
              <a:t>Tân Xã và Thạch Hòa có giá gần nhau dù khoảng cách khác, gợi ý rằng loại phòng và chất lượng phòng cũng quan trọng.</a:t>
            </a:r>
          </a:p>
          <a:p xmlns:a="http://schemas.openxmlformats.org/drawingml/2006/main">
            <a:r>
              <a:t>Vì vậy hồi quy đơn chỉ giải thích một phần biến thiên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dùng mô hình tuyến tính đơn với một biến giải thích là khoảng cách.</a:t>
            </a:r>
          </a:p>
          <a:p xmlns:a="http://schemas.openxmlformats.org/drawingml/2006/main">
            <a:r>
              <a:t>OLS tìm hai hệ số sao cho tổng bình phương sai lệch giữa giá thực tế và giá dự báo là nhỏ nhất.</a:t>
            </a:r>
          </a:p>
          <a:p xmlns:a="http://schemas.openxmlformats.org/drawingml/2006/main">
            <a:r>
              <a:t>Cần phân biệt beta là tham số của tổng thể và beta mũ là ước lượng từ mẫu.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Excel, nhóm tạo riêng các cột x trừ x trung bình, y trừ y trung bình, tích hai độ lệch và bình phương độ lệch của x.</a:t>
            </a:r>
          </a:p>
          <a:p xmlns:a="http://schemas.openxmlformats.org/drawingml/2006/main">
            <a:r>
              <a:t>Từ đó Sxy bằng -28.7683 và Sxx bằng 197.5166.</a:t>
            </a:r>
          </a:p>
          <a:p xmlns:a="http://schemas.openxmlformats.org/drawingml/2006/main">
            <a:r>
              <a:t>Chia Sxy cho Sxx được beta một mũ -0.1457; beta không mũ được tính từ trung bình.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Sau khi có beta mũ, nhóm tính giá dự báo và phần dư cho từng dòng.</a:t>
            </a:r>
          </a:p>
          <a:p xmlns:a="http://schemas.openxmlformats.org/drawingml/2006/main">
            <a:r>
              <a:t>Tổng bình phương phần dư là 4.9590; chia cho n trừ 2 cho s bình phương bằng 0.0870.</a:t>
            </a:r>
          </a:p>
          <a:p xmlns:a="http://schemas.openxmlformats.org/drawingml/2006/main">
            <a:r>
              <a:t>Sai số chuẩn của beta một là 0.0210, dùng ở bước kiểm định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Thống kê t bằng -6.940 và p-value xấp xỉ 4.01e-9.</a:t>
            </a:r>
          </a:p>
          <a:p xmlns:a="http://schemas.openxmlformats.org/drawingml/2006/main">
            <a:r>
              <a:t>Vì p-value nhỏ hơn 0,05, nhóm bác bỏ giả thuyết hệ số bằng 0.</a:t>
            </a:r>
          </a:p>
          <a:p xmlns:a="http://schemas.openxmlformats.org/drawingml/2006/main">
            <a:r>
              <a:t>Khoảng tin cậy 95 phần trăm của beta một từ -0.188 đến -0.104, hoàn toàn âm.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chấm là giá thực tế, đường đỏ là giá dự báo theo OLS.</a:t>
            </a:r>
          </a:p>
          <a:p xmlns:a="http://schemas.openxmlformats.org/drawingml/2006/main">
            <a:r>
              <a:t>Hệ số góc -0.1457 nghĩa là xa thêm một km gắn với mức giảm trung bình khoảng 146 nghìn đồng mỗi tháng.</a:t>
            </a:r>
          </a:p>
          <a:p xmlns:a="http://schemas.openxmlformats.org/drawingml/2006/main">
            <a:r>
              <a:t>R bình phương 45.80 phần trăm cho thấy khoảng cách giải thích một phần đáng kể nhưng không phải toàn bộ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nhóm nhập X0 bằng 3 km trong Excel.</a:t>
            </a:r>
          </a:p>
          <a:p xmlns:a="http://schemas.openxmlformats.org/drawingml/2006/main">
            <a:r>
              <a:t>Dự báo điểm là 2.1943 triệu đồng một tháng.</a:t>
            </a:r>
          </a:p>
          <a:p xmlns:a="http://schemas.openxmlformats.org/drawingml/2006/main">
            <a:r>
              <a:t>Khoảng tin cậy cho giá trung bình hẹp hơn khoảng dự báo cho một phòng cụ thể, vì phòng cụ thể còn chịu ảnh hưởng của nội thất, diện tích và các yếu tố khác.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ngắn: trong 59 phòng trọ ngoài KTX, khoảng cách có quan hệ âm và có ý nghĩa thống kê với giá thuê.</a:t>
            </a:r>
          </a:p>
          <a:p xmlns:a="http://schemas.openxmlformats.org/drawingml/2006/main">
            <a:r>
              <a:t>Tuy nhiên đây là dữ liệu quan sát và mô hình chỉ có một biến nên chưa thể kết luận nhân quả.</a:t>
            </a:r>
          </a:p>
          <a:p xmlns:a="http://schemas.openxmlformats.org/drawingml/2006/main">
            <a:r>
              <a:t>Nếu có thêm thời gian, nhóm sẽ thu thập diện tích, nội thất và dịch vụ để xây mô hình đa biến.</a:t>
            </a:r>
          </a:p>
          <a:p xmlns:a="http://schemas.openxmlformats.org/drawingml/2006/main">
            <a:r>
              <a:t>Sau đó mời thầy đặt câu hỏi và mở Excel để chứng minh công thức khi cần.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5075b17f744f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945eb08ee34383" /><Relationship Type="http://schemas.openxmlformats.org/officeDocument/2006/relationships/slideLayout" Target="/ppt/slideLayouts/slideLayout1.xml" Id="R8a670362ac184c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670362ac184c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b98999c5f24082" /><Relationship Type="http://schemas.openxmlformats.org/officeDocument/2006/relationships/notesSlide" Target="/ppt/notesSlides/notesSlide1.xml" Id="R5bcb7425f17f43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28253d8d344877" /><Relationship Type="http://schemas.openxmlformats.org/officeDocument/2006/relationships/notesSlide" Target="/ppt/notesSlides/notesSlide2.xml" Id="Rca58aa6147d04e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32bb89000d4b89" /><Relationship Type="http://schemas.openxmlformats.org/officeDocument/2006/relationships/notesSlide" Target="/ppt/notesSlides/notesSlide3.xml" Id="R6d86ed17f32b40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f81d2e2bf947b8" /><Relationship Type="http://schemas.openxmlformats.org/officeDocument/2006/relationships/notesSlide" Target="/ppt/notesSlides/notesSlide4.xml" Id="R52fdba3417be40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cbabe6e54e48d5" /><Relationship Type="http://schemas.openxmlformats.org/officeDocument/2006/relationships/notesSlide" Target="/ppt/notesSlides/notesSlide5.xml" Id="R2004c70eb97345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1ef9d274914806" /><Relationship Type="http://schemas.openxmlformats.org/officeDocument/2006/relationships/notesSlide" Target="/ppt/notesSlides/notesSlide6.xml" Id="R721c5fca87654e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da868703dd4102" /><Relationship Type="http://schemas.openxmlformats.org/officeDocument/2006/relationships/chart" Target="/ppt/slides/charts/chart1.xml" Id="Rcac7b6c384664dc5" /><Relationship Type="http://schemas.openxmlformats.org/officeDocument/2006/relationships/notesSlide" Target="/ppt/notesSlides/notesSlide7.xml" Id="Rab1d14e32efb4d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ac99435a7e46d0" /><Relationship Type="http://schemas.openxmlformats.org/officeDocument/2006/relationships/notesSlide" Target="/ppt/notesSlides/notesSlide8.xml" Id="Ra9b8c84a1a404f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611c97494842a2" /><Relationship Type="http://schemas.openxmlformats.org/officeDocument/2006/relationships/notesSlide" Target="/ppt/notesSlides/notesSlide9.xml" Id="R8db22cd46d4a42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c3ed82d54441d5" /><Relationship Type="http://schemas.openxmlformats.org/officeDocument/2006/relationships/notesSlide" Target="/ppt/notesSlides/notesSlide10.xml" Id="R5408d40cf2e04d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4573062b6f4ff3" /><Relationship Type="http://schemas.openxmlformats.org/officeDocument/2006/relationships/notesSlide" Target="/ppt/notesSlides/notesSlide11.xml" Id="R42c27b3f96b643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f8856f93de49a4" /><Relationship Type="http://schemas.openxmlformats.org/officeDocument/2006/relationships/chart" Target="/ppt/slides/charts/chart2.xml" Id="R770ffd028957423a" /><Relationship Type="http://schemas.openxmlformats.org/officeDocument/2006/relationships/notesSlide" Target="/ppt/notesSlides/notesSlide12.xml" Id="R935a11e206e640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5fa023a128462d" /><Relationship Type="http://schemas.openxmlformats.org/officeDocument/2006/relationships/notesSlide" Target="/ppt/notesSlides/notesSlide13.xml" Id="Rbcd574249d074b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802d8e9f9e4f26" /><Relationship Type="http://schemas.openxmlformats.org/officeDocument/2006/relationships/notesSlide" Target="/ppt/notesSlides/notesSlide14.xml" Id="R52465f38134d463a" /></Relationships>
</file>

<file path=ppt/slides/charts/chart1.xml><?xml version="1.0" encoding="utf-8"?>
<c:chartSpace xmlns:c="http://schemas.openxmlformats.org/drawingml/2006/chart">
  <c:lang val="en-US"/>
  <c:chart>
    <c:plotArea>
      <c:barChart>
        <c:barDir val="col"/>
        <c:grouping val="clustered"/>
        <c:varyColors val="0"/>
        <c:ser>
          <c:idx val="0"/>
          <c:order val="0"/>
          <c:tx>
            <c:v>Giá thuê TB</c:v>
          </c:tx>
          <c:spPr>
            <a:solidFill xmlns:a="http://schemas.openxmlformats.org/drawingml/2006/main">
              <a:srgbClr val="3D8DFF"/>
            </a:solidFill>
          </c:spPr>
          <c:cat>
            <c:strLit>
              <c:ptCount val="3"/>
              <c:pt idx="0">
                <c:v>Tân Xã</c:v>
              </c:pt>
              <c:pt idx="1">
                <c:v>Thạch Hòa</c:v>
              </c:pt>
              <c:pt idx="2">
                <c:v>Hòa Lạc</c:v>
              </c:pt>
            </c:strLit>
          </c:cat>
          <c:val>
            <c:numLit>
              <c:formatCode>0.00</c:formatCode>
              <c:ptCount val="3"/>
              <c:pt idx="0">
                <c:v>2.1750000000000003</c:v>
              </c:pt>
              <c:pt idx="1">
                <c:v>2.23125</c:v>
              </c:pt>
              <c:pt idx="2">
                <c:v>1.652173913043478</c:v>
              </c:pt>
            </c:numLit>
          </c:val>
        </c:ser>
        <c:dLbls>
          <c:txPr>
            <a:bodyPr xmlns:a="http://schemas.openxmlformats.org/drawingml/2006/main" anchorCtr="1"/>
            <a:lstStyle xmlns:a="http://schemas.openxmlformats.org/drawingml/2006/main"/>
            <a:p xmlns:a="http://schemas.openxmlformats.org/drawingml/2006/main">
              <a:pPr>
                <a:defRPr sz="1125" b="1">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00000"/>
                </a:solidFill>
              </a:defRPr>
            </a:pPr>
          </a:p>
        </c:txPr>
        <c:crossAx val="48672768"/>
        <c:lblAlgn val="ctr"/>
        <c:lblOffset val="100"/>
        <c:noMultiLvlLbl val="0"/>
      </c:catAx>
      <c:valAx>
        <c:axId val="48672768"/>
        <c:scaling>
          <c:orientation val="minMax"/>
          <c:max val="3"/>
          <c:min val="0"/>
        </c:scaling>
        <c:delete val="0"/>
        <c:axPos val="l"/>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t>Triệu VNĐ/tháng</a:t>
                </a:r>
              </a:p>
            </c:rich>
          </c:tx>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5"/>
      </c:valAx>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scatterChart>
        <c:scatterStyle val="lineMarker"/>
        <c:ser>
          <c:idx val="0"/>
          <c:order val="0"/>
          <c:tx>
            <c:v>Giá thực tế</c:v>
          </c:tx>
          <c:spPr>
            <a:ln xmlns:a="http://schemas.openxmlformats.org/drawingml/2006/main" w="953">
              <a:solidFill>
                <a:srgbClr val="6DCBF4"/>
              </a:solidFill>
              <a:prstDash val="solid"/>
            </a:ln>
          </c:spPr>
          <c:marker>
            <c:symbol val="circle"/>
            <c:size val="7"/>
          </c:marker>
          <c:xVal>
            <c:numLit>
              <c:formatCode>General</c:formatCode>
              <c:ptCount val="59"/>
              <c:pt idx="0">
                <c:v>0.5</c:v>
              </c:pt>
              <c:pt idx="1">
                <c:v>1.9</c:v>
              </c:pt>
              <c:pt idx="2">
                <c:v>2</c:v>
              </c:pt>
              <c:pt idx="3">
                <c:v>2.3</c:v>
              </c:pt>
              <c:pt idx="4">
                <c:v>2.3</c:v>
              </c:pt>
              <c:pt idx="5">
                <c:v>2.4</c:v>
              </c:pt>
              <c:pt idx="6">
                <c:v>2.5</c:v>
              </c:pt>
              <c:pt idx="7">
                <c:v>2.5</c:v>
              </c:pt>
              <c:pt idx="8">
                <c:v>2.6</c:v>
              </c:pt>
              <c:pt idx="9">
                <c:v>2.7</c:v>
              </c:pt>
              <c:pt idx="10">
                <c:v>2.7</c:v>
              </c:pt>
              <c:pt idx="11">
                <c:v>2.8</c:v>
              </c:pt>
              <c:pt idx="12">
                <c:v>2.9</c:v>
              </c:pt>
              <c:pt idx="13">
                <c:v>3</c:v>
              </c:pt>
              <c:pt idx="14">
                <c:v>3</c:v>
              </c:pt>
              <c:pt idx="15">
                <c:v>3</c:v>
              </c:pt>
              <c:pt idx="16">
                <c:v>3</c:v>
              </c:pt>
              <c:pt idx="17">
                <c:v>3.1</c:v>
              </c:pt>
              <c:pt idx="18">
                <c:v>3.1</c:v>
              </c:pt>
              <c:pt idx="19">
                <c:v>3.2</c:v>
              </c:pt>
              <c:pt idx="20">
                <c:v>3.2</c:v>
              </c:pt>
              <c:pt idx="21">
                <c:v>3.3</c:v>
              </c:pt>
              <c:pt idx="22">
                <c:v>3.4</c:v>
              </c:pt>
              <c:pt idx="23">
                <c:v>3.5</c:v>
              </c:pt>
              <c:pt idx="24">
                <c:v>3.5</c:v>
              </c:pt>
              <c:pt idx="25">
                <c:v>3.6</c:v>
              </c:pt>
              <c:pt idx="26">
                <c:v>3.8</c:v>
              </c:pt>
              <c:pt idx="27">
                <c:v>3.9</c:v>
              </c:pt>
              <c:pt idx="28">
                <c:v>3.9</c:v>
              </c:pt>
              <c:pt idx="29">
                <c:v>4.1</c:v>
              </c:pt>
              <c:pt idx="30">
                <c:v>4.2</c:v>
              </c:pt>
              <c:pt idx="31">
                <c:v>4.2</c:v>
              </c:pt>
              <c:pt idx="32">
                <c:v>4.2</c:v>
              </c:pt>
              <c:pt idx="33">
                <c:v>4.5</c:v>
              </c:pt>
              <c:pt idx="34">
                <c:v>4.5</c:v>
              </c:pt>
              <c:pt idx="35">
                <c:v>4.6</c:v>
              </c:pt>
              <c:pt idx="36">
                <c:v>4.7</c:v>
              </c:pt>
              <c:pt idx="37">
                <c:v>4.8</c:v>
              </c:pt>
              <c:pt idx="38">
                <c:v>5</c:v>
              </c:pt>
              <c:pt idx="39">
                <c:v>5.1</c:v>
              </c:pt>
              <c:pt idx="40">
                <c:v>5.2</c:v>
              </c:pt>
              <c:pt idx="41">
                <c:v>5.5</c:v>
              </c:pt>
              <c:pt idx="42">
                <c:v>5.6</c:v>
              </c:pt>
              <c:pt idx="43">
                <c:v>5.8</c:v>
              </c:pt>
              <c:pt idx="44">
                <c:v>6</c:v>
              </c:pt>
              <c:pt idx="45">
                <c:v>6.3</c:v>
              </c:pt>
              <c:pt idx="46">
                <c:v>6.4</c:v>
              </c:pt>
              <c:pt idx="47">
                <c:v>6.5</c:v>
              </c:pt>
              <c:pt idx="48">
                <c:v>6.6</c:v>
              </c:pt>
              <c:pt idx="49">
                <c:v>6.8</c:v>
              </c:pt>
              <c:pt idx="50">
                <c:v>6.9</c:v>
              </c:pt>
              <c:pt idx="51">
                <c:v>7</c:v>
              </c:pt>
              <c:pt idx="52">
                <c:v>7</c:v>
              </c:pt>
              <c:pt idx="53">
                <c:v>7.1</c:v>
              </c:pt>
              <c:pt idx="54">
                <c:v>7.5</c:v>
              </c:pt>
              <c:pt idx="55">
                <c:v>7.5</c:v>
              </c:pt>
              <c:pt idx="56">
                <c:v>7.8</c:v>
              </c:pt>
              <c:pt idx="57">
                <c:v>8</c:v>
              </c:pt>
              <c:pt idx="58">
                <c:v>8.2</c:v>
              </c:pt>
            </c:numLit>
          </c:xVal>
          <c:yVal>
            <c:numLit>
              <c:formatCode>General</c:formatCode>
              <c:ptCount val="59"/>
              <c:pt idx="0">
                <c:v>1.6</c:v>
              </c:pt>
              <c:pt idx="1">
                <c:v>2.1</c:v>
              </c:pt>
              <c:pt idx="2">
                <c:v>1.6</c:v>
              </c:pt>
              <c:pt idx="3">
                <c:v>2.3</c:v>
              </c:pt>
              <c:pt idx="4">
                <c:v>2.3</c:v>
              </c:pt>
              <c:pt idx="5">
                <c:v>2.3</c:v>
              </c:pt>
              <c:pt idx="6">
                <c:v>2.3</c:v>
              </c:pt>
              <c:pt idx="7">
                <c:v>2.3</c:v>
              </c:pt>
              <c:pt idx="8">
                <c:v>2.3</c:v>
              </c:pt>
              <c:pt idx="9">
                <c:v>2.4</c:v>
              </c:pt>
              <c:pt idx="10">
                <c:v>1.9</c:v>
              </c:pt>
              <c:pt idx="11">
                <c:v>2</c:v>
              </c:pt>
              <c:pt idx="12">
                <c:v>2.2</c:v>
              </c:pt>
              <c:pt idx="13">
                <c:v>2.5</c:v>
              </c:pt>
              <c:pt idx="14">
                <c:v>2.1</c:v>
              </c:pt>
              <c:pt idx="15">
                <c:v>2.5</c:v>
              </c:pt>
              <c:pt idx="16">
                <c:v>3</c:v>
              </c:pt>
              <c:pt idx="17">
                <c:v>2.1</c:v>
              </c:pt>
              <c:pt idx="18">
                <c:v>2.8</c:v>
              </c:pt>
              <c:pt idx="19">
                <c:v>2</c:v>
              </c:pt>
              <c:pt idx="20">
                <c:v>2.2</c:v>
              </c:pt>
              <c:pt idx="21">
                <c:v>2.2</c:v>
              </c:pt>
              <c:pt idx="22">
                <c:v>2.7</c:v>
              </c:pt>
              <c:pt idx="23">
                <c:v>2.1</c:v>
              </c:pt>
              <c:pt idx="24">
                <c:v>2.2</c:v>
              </c:pt>
              <c:pt idx="25">
                <c:v>2</c:v>
              </c:pt>
              <c:pt idx="26">
                <c:v>2.9</c:v>
              </c:pt>
              <c:pt idx="27">
                <c:v>2</c:v>
              </c:pt>
              <c:pt idx="28">
                <c:v>1.9</c:v>
              </c:pt>
              <c:pt idx="29">
                <c:v>2</c:v>
              </c:pt>
              <c:pt idx="30">
                <c:v>2.1</c:v>
              </c:pt>
              <c:pt idx="31">
                <c:v>2.8</c:v>
              </c:pt>
              <c:pt idx="32">
                <c:v>1.8</c:v>
              </c:pt>
              <c:pt idx="33">
                <c:v>1.9</c:v>
              </c:pt>
              <c:pt idx="34">
                <c:v>2</c:v>
              </c:pt>
              <c:pt idx="35">
                <c:v>1.8</c:v>
              </c:pt>
              <c:pt idx="36">
                <c:v>1.9</c:v>
              </c:pt>
              <c:pt idx="37">
                <c:v>2</c:v>
              </c:pt>
              <c:pt idx="38">
                <c:v>1.9</c:v>
              </c:pt>
              <c:pt idx="39">
                <c:v>1.9</c:v>
              </c:pt>
              <c:pt idx="40">
                <c:v>1.9</c:v>
              </c:pt>
              <c:pt idx="41">
                <c:v>1.8</c:v>
              </c:pt>
              <c:pt idx="42">
                <c:v>1.9</c:v>
              </c:pt>
              <c:pt idx="43">
                <c:v>1.7</c:v>
              </c:pt>
              <c:pt idx="44">
                <c:v>1.9</c:v>
              </c:pt>
              <c:pt idx="45">
                <c:v>1.5</c:v>
              </c:pt>
              <c:pt idx="46">
                <c:v>1.7</c:v>
              </c:pt>
              <c:pt idx="47">
                <c:v>1.7</c:v>
              </c:pt>
              <c:pt idx="48">
                <c:v>1.5</c:v>
              </c:pt>
              <c:pt idx="49">
                <c:v>1.6</c:v>
              </c:pt>
              <c:pt idx="50">
                <c:v>1.5</c:v>
              </c:pt>
              <c:pt idx="51">
                <c:v>1.5</c:v>
              </c:pt>
              <c:pt idx="52">
                <c:v>1.5</c:v>
              </c:pt>
              <c:pt idx="53">
                <c:v>1.4</c:v>
              </c:pt>
              <c:pt idx="54">
                <c:v>1.5</c:v>
              </c:pt>
              <c:pt idx="55">
                <c:v>1.5</c:v>
              </c:pt>
              <c:pt idx="56">
                <c:v>1.5</c:v>
              </c:pt>
              <c:pt idx="57">
                <c:v>1.4</c:v>
              </c:pt>
              <c:pt idx="58">
                <c:v>1.3</c:v>
              </c:pt>
            </c:numLit>
          </c:yVal>
        </c:ser>
        <c:ser>
          <c:idx val="1"/>
          <c:order val="1"/>
          <c:tx>
            <c:v>Đường OLS</c:v>
          </c:tx>
          <c:spPr>
            <a:ln xmlns:a="http://schemas.openxmlformats.org/drawingml/2006/main" w="28575">
              <a:solidFill>
                <a:srgbClr val="C62828"/>
              </a:solidFill>
              <a:prstDash val="solid"/>
            </a:ln>
          </c:spPr>
          <c:marker>
            <c:symbol val="none"/>
            <c:size val="2"/>
          </c:marker>
          <c:xVal>
            <c:numLit>
              <c:formatCode>General</c:formatCode>
              <c:ptCount val="59"/>
              <c:pt idx="0">
                <c:v>0.5</c:v>
              </c:pt>
              <c:pt idx="1">
                <c:v>1.9</c:v>
              </c:pt>
              <c:pt idx="2">
                <c:v>2</c:v>
              </c:pt>
              <c:pt idx="3">
                <c:v>2.3</c:v>
              </c:pt>
              <c:pt idx="4">
                <c:v>2.3</c:v>
              </c:pt>
              <c:pt idx="5">
                <c:v>2.4</c:v>
              </c:pt>
              <c:pt idx="6">
                <c:v>2.5</c:v>
              </c:pt>
              <c:pt idx="7">
                <c:v>2.5</c:v>
              </c:pt>
              <c:pt idx="8">
                <c:v>2.6</c:v>
              </c:pt>
              <c:pt idx="9">
                <c:v>2.7</c:v>
              </c:pt>
              <c:pt idx="10">
                <c:v>2.7</c:v>
              </c:pt>
              <c:pt idx="11">
                <c:v>2.8</c:v>
              </c:pt>
              <c:pt idx="12">
                <c:v>2.9</c:v>
              </c:pt>
              <c:pt idx="13">
                <c:v>3</c:v>
              </c:pt>
              <c:pt idx="14">
                <c:v>3</c:v>
              </c:pt>
              <c:pt idx="15">
                <c:v>3</c:v>
              </c:pt>
              <c:pt idx="16">
                <c:v>3</c:v>
              </c:pt>
              <c:pt idx="17">
                <c:v>3.1</c:v>
              </c:pt>
              <c:pt idx="18">
                <c:v>3.1</c:v>
              </c:pt>
              <c:pt idx="19">
                <c:v>3.2</c:v>
              </c:pt>
              <c:pt idx="20">
                <c:v>3.2</c:v>
              </c:pt>
              <c:pt idx="21">
                <c:v>3.3</c:v>
              </c:pt>
              <c:pt idx="22">
                <c:v>3.4</c:v>
              </c:pt>
              <c:pt idx="23">
                <c:v>3.5</c:v>
              </c:pt>
              <c:pt idx="24">
                <c:v>3.5</c:v>
              </c:pt>
              <c:pt idx="25">
                <c:v>3.6</c:v>
              </c:pt>
              <c:pt idx="26">
                <c:v>3.8</c:v>
              </c:pt>
              <c:pt idx="27">
                <c:v>3.9</c:v>
              </c:pt>
              <c:pt idx="28">
                <c:v>3.9</c:v>
              </c:pt>
              <c:pt idx="29">
                <c:v>4.1</c:v>
              </c:pt>
              <c:pt idx="30">
                <c:v>4.2</c:v>
              </c:pt>
              <c:pt idx="31">
                <c:v>4.2</c:v>
              </c:pt>
              <c:pt idx="32">
                <c:v>4.2</c:v>
              </c:pt>
              <c:pt idx="33">
                <c:v>4.5</c:v>
              </c:pt>
              <c:pt idx="34">
                <c:v>4.5</c:v>
              </c:pt>
              <c:pt idx="35">
                <c:v>4.6</c:v>
              </c:pt>
              <c:pt idx="36">
                <c:v>4.7</c:v>
              </c:pt>
              <c:pt idx="37">
                <c:v>4.8</c:v>
              </c:pt>
              <c:pt idx="38">
                <c:v>5</c:v>
              </c:pt>
              <c:pt idx="39">
                <c:v>5.1</c:v>
              </c:pt>
              <c:pt idx="40">
                <c:v>5.2</c:v>
              </c:pt>
              <c:pt idx="41">
                <c:v>5.5</c:v>
              </c:pt>
              <c:pt idx="42">
                <c:v>5.6</c:v>
              </c:pt>
              <c:pt idx="43">
                <c:v>5.8</c:v>
              </c:pt>
              <c:pt idx="44">
                <c:v>6</c:v>
              </c:pt>
              <c:pt idx="45">
                <c:v>6.3</c:v>
              </c:pt>
              <c:pt idx="46">
                <c:v>6.4</c:v>
              </c:pt>
              <c:pt idx="47">
                <c:v>6.5</c:v>
              </c:pt>
              <c:pt idx="48">
                <c:v>6.6</c:v>
              </c:pt>
              <c:pt idx="49">
                <c:v>6.8</c:v>
              </c:pt>
              <c:pt idx="50">
                <c:v>6.9</c:v>
              </c:pt>
              <c:pt idx="51">
                <c:v>7</c:v>
              </c:pt>
              <c:pt idx="52">
                <c:v>7</c:v>
              </c:pt>
              <c:pt idx="53">
                <c:v>7.1</c:v>
              </c:pt>
              <c:pt idx="54">
                <c:v>7.5</c:v>
              </c:pt>
              <c:pt idx="55">
                <c:v>7.5</c:v>
              </c:pt>
              <c:pt idx="56">
                <c:v>7.8</c:v>
              </c:pt>
              <c:pt idx="57">
                <c:v>8</c:v>
              </c:pt>
              <c:pt idx="58">
                <c:v>8.2</c:v>
              </c:pt>
            </c:numLit>
          </c:xVal>
          <c:yVal>
            <c:numLit>
              <c:formatCode>General</c:formatCode>
              <c:ptCount val="59"/>
              <c:pt idx="0">
                <c:v>2.5584257234748775</c:v>
              </c:pt>
              <c:pt idx="1">
                <c:v>2.354515646828245</c:v>
              </c:pt>
              <c:pt idx="2">
                <c:v>2.3399506413534854</c:v>
              </c:pt>
              <c:pt idx="3">
                <c:v>2.296255624929207</c:v>
              </c:pt>
              <c:pt idx="4">
                <c:v>2.296255624929207</c:v>
              </c:pt>
              <c:pt idx="5">
                <c:v>2.2816906194544475</c:v>
              </c:pt>
              <c:pt idx="6">
                <c:v>2.267125613979688</c:v>
              </c:pt>
              <c:pt idx="7">
                <c:v>2.267125613979688</c:v>
              </c:pt>
              <c:pt idx="8">
                <c:v>2.2525606085049286</c:v>
              </c:pt>
              <c:pt idx="9">
                <c:v>2.237995603030169</c:v>
              </c:pt>
              <c:pt idx="10">
                <c:v>2.237995603030169</c:v>
              </c:pt>
              <c:pt idx="11">
                <c:v>2.2234305975554096</c:v>
              </c:pt>
              <c:pt idx="12">
                <c:v>2.20886559208065</c:v>
              </c:pt>
              <c:pt idx="13">
                <c:v>2.1943005866058907</c:v>
              </c:pt>
              <c:pt idx="14">
                <c:v>2.1943005866058907</c:v>
              </c:pt>
              <c:pt idx="15">
                <c:v>2.1943005866058907</c:v>
              </c:pt>
              <c:pt idx="16">
                <c:v>2.1943005866058907</c:v>
              </c:pt>
              <c:pt idx="17">
                <c:v>2.179735581131131</c:v>
              </c:pt>
              <c:pt idx="18">
                <c:v>2.179735581131131</c:v>
              </c:pt>
              <c:pt idx="19">
                <c:v>2.1651705756563717</c:v>
              </c:pt>
              <c:pt idx="20">
                <c:v>2.1651705756563717</c:v>
              </c:pt>
              <c:pt idx="21">
                <c:v>2.1506055701816122</c:v>
              </c:pt>
              <c:pt idx="22">
                <c:v>2.1360405647068528</c:v>
              </c:pt>
              <c:pt idx="23">
                <c:v>2.1214755592320933</c:v>
              </c:pt>
              <c:pt idx="24">
                <c:v>2.1214755592320933</c:v>
              </c:pt>
              <c:pt idx="25">
                <c:v>2.106910553757334</c:v>
              </c:pt>
              <c:pt idx="26">
                <c:v>2.077780542807815</c:v>
              </c:pt>
              <c:pt idx="27">
                <c:v>2.0632155373330554</c:v>
              </c:pt>
              <c:pt idx="28">
                <c:v>2.0632155373330554</c:v>
              </c:pt>
              <c:pt idx="29">
                <c:v>2.0340855263835365</c:v>
              </c:pt>
              <c:pt idx="30">
                <c:v>2.019520520908777</c:v>
              </c:pt>
              <c:pt idx="31">
                <c:v>2.019520520908777</c:v>
              </c:pt>
              <c:pt idx="32">
                <c:v>2.019520520908777</c:v>
              </c:pt>
              <c:pt idx="33">
                <c:v>1.9758255044844986</c:v>
              </c:pt>
              <c:pt idx="34">
                <c:v>1.9758255044844986</c:v>
              </c:pt>
              <c:pt idx="35">
                <c:v>1.961260499009739</c:v>
              </c:pt>
              <c:pt idx="36">
                <c:v>1.9466954935349796</c:v>
              </c:pt>
              <c:pt idx="37">
                <c:v>1.9321304880602201</c:v>
              </c:pt>
              <c:pt idx="38">
                <c:v>1.9030004771107012</c:v>
              </c:pt>
              <c:pt idx="39">
                <c:v>1.8884354716359417</c:v>
              </c:pt>
              <c:pt idx="40">
                <c:v>1.873870466161182</c:v>
              </c:pt>
              <c:pt idx="41">
                <c:v>1.8301754497369038</c:v>
              </c:pt>
              <c:pt idx="42">
                <c:v>1.8156104442621444</c:v>
              </c:pt>
              <c:pt idx="43">
                <c:v>1.7864804333126254</c:v>
              </c:pt>
              <c:pt idx="44">
                <c:v>1.7573504223631062</c:v>
              </c:pt>
              <c:pt idx="45">
                <c:v>1.713655405938828</c:v>
              </c:pt>
              <c:pt idx="46">
                <c:v>1.6990904004640683</c:v>
              </c:pt>
              <c:pt idx="47">
                <c:v>1.6845253949893089</c:v>
              </c:pt>
              <c:pt idx="48">
                <c:v>1.6699603895145496</c:v>
              </c:pt>
              <c:pt idx="49">
                <c:v>1.6408303785650307</c:v>
              </c:pt>
              <c:pt idx="50">
                <c:v>1.626265373090271</c:v>
              </c:pt>
              <c:pt idx="51">
                <c:v>1.6117003676155115</c:v>
              </c:pt>
              <c:pt idx="52">
                <c:v>1.6117003676155115</c:v>
              </c:pt>
              <c:pt idx="53">
                <c:v>1.597135362140752</c:v>
              </c:pt>
              <c:pt idx="54">
                <c:v>1.5388753402417141</c:v>
              </c:pt>
              <c:pt idx="55">
                <c:v>1.5388753402417141</c:v>
              </c:pt>
              <c:pt idx="56">
                <c:v>1.4951803238174357</c:v>
              </c:pt>
              <c:pt idx="57">
                <c:v>1.4660503128679168</c:v>
              </c:pt>
              <c:pt idx="58">
                <c:v>1.4369203019183978</c:v>
              </c:pt>
            </c:numLit>
          </c:yVal>
        </c:ser>
        <c:axId val="48650112"/>
        <c:axId val="48672768"/>
      </c:scatterChart>
      <c:valAx>
        <c:axId val="48672768"/>
        <c:scaling>
          <c:orientation val="minMax"/>
          <c:max val="3.5"/>
          <c:min val="0"/>
        </c:scaling>
        <c:delete val="0"/>
        <c:axPos val="l"/>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t>Giá thuê (triệu/tháng)</a:t>
                </a:r>
              </a:p>
            </c:rich>
          </c:tx>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majorUnit val="0.5"/>
      </c:valAx>
      <c:valAx>
        <c:axId val="48650112"/>
        <c:scaling>
          <c:orientation val="minMax"/>
          <c:max val="9"/>
          <c:min val="0"/>
        </c:scaling>
        <c:delete val="0"/>
        <c:axPos val="b"/>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t>Khoảng cách (km)</a:t>
                </a:r>
              </a:p>
            </c:rich>
          </c:tx>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4FE6CF-7265-4AFD-821C-801C2749EB53}"/>
              </a:ext>
            </a:extLst>
          </p:cNvPr>
          <p:cNvSpPr>
            <a:spLocks xmlns:a="http://schemas.openxmlformats.org/drawingml/2006/main" noGrp="1"/>
          </p:cNvSpPr>
          <p:nvPr/>
        </p:nvSpPr>
        <p:spPr>
          <a:xfrm xmlns:a="http://schemas.openxmlformats.org/drawingml/2006/main">
            <a:off x="400050" y="400050"/>
            <a:ext cx="5715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3D8DFF"/>
                </a:solidFill>
                <a:latin typeface="Helvetica Neue"/>
                <a:ea typeface="Helvetica Neue"/>
                <a:cs typeface="Helvetica Neue"/>
              </a:defRPr>
            </a:pPr>
            <a:r>
              <a:t>ĐẠI HỌC FPT • MÔN MAS</a:t>
            </a:r>
          </a:p>
        </p:txBody>
      </p:sp>
      <p:sp>
        <p:nvSpPr>
          <p:cNvPr id="2" name="">
            <a:extLst xmlns:a="http://schemas.openxmlformats.org/drawingml/2006/main">
              <a:ext uri="{FF2B5EF4-FFF2-40B4-BE49-F238E27FC236}">
                <a16:creationId xmlns:a16="http://schemas.microsoft.com/office/drawing/2014/main" id="{7686C20C-8FE2-4CCF-BFE4-694BCBD0FD87}"/>
              </a:ext>
            </a:extLst>
          </p:cNvPr>
          <p:cNvSpPr>
            <a:spLocks xmlns:a="http://schemas.openxmlformats.org/drawingml/2006/main" noGrp="1"/>
          </p:cNvSpPr>
          <p:nvPr/>
        </p:nvSpPr>
        <p:spPr>
          <a:xfrm xmlns:a="http://schemas.openxmlformats.org/drawingml/2006/main">
            <a:off x="400050" y="1619250"/>
            <a:ext cx="10287000" cy="257175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defRPr sz="4950" b="1">
                <a:solidFill>
                  <a:srgbClr val="000000"/>
                </a:solidFill>
                <a:latin typeface="Helvetica Neue"/>
                <a:ea typeface="Helvetica Neue"/>
                <a:cs typeface="Helvetica Neue"/>
              </a:defRPr>
            </a:pPr>
            <a:r>
              <a:t>Khoảng cách ảnh hưởng thế nào đến giá thuê trọ?</a:t>
            </a:r>
          </a:p>
        </p:txBody>
      </p:sp>
      <p:sp>
        <p:nvSpPr>
          <p:cNvPr id="3" name="">
            <a:extLst xmlns:a="http://schemas.openxmlformats.org/drawingml/2006/main">
              <a:ext uri="{FF2B5EF4-FFF2-40B4-BE49-F238E27FC236}">
                <a16:creationId xmlns:a16="http://schemas.microsoft.com/office/drawing/2014/main" id="{7BFB0EB4-71A8-43DD-B277-83CF2CA9C3C2}"/>
              </a:ext>
            </a:extLst>
          </p:cNvPr>
          <p:cNvSpPr>
            <a:spLocks xmlns:a="http://schemas.openxmlformats.org/drawingml/2006/main" noGrp="1"/>
          </p:cNvSpPr>
          <p:nvPr/>
        </p:nvSpPr>
        <p:spPr>
          <a:xfrm xmlns:a="http://schemas.openxmlformats.org/drawingml/2006/main">
            <a:off x="400050" y="4762500"/>
            <a:ext cx="8096250" cy="1047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a:solidFill>
                  <a:srgbClr val="000000"/>
                </a:solidFill>
                <a:latin typeface="Helvetica Neue"/>
                <a:ea typeface="Helvetica Neue"/>
                <a:cs typeface="Helvetica Neue"/>
              </a:defRPr>
            </a:pPr>
            <a:r>
              <a:t>Hồi quy tuyến tính đơn trên 76 quan sát sạch
Nhóm: [Tên nhóm] • Thành viên: [Điền tên]</a:t>
            </a:r>
          </a:p>
        </p:txBody>
      </p:sp>
      <p:sp>
        <p:nvSpPr>
          <p:cNvPr id="4" name="">
            <a:extLst xmlns:a="http://schemas.openxmlformats.org/drawingml/2006/main">
              <a:ext uri="{FF2B5EF4-FFF2-40B4-BE49-F238E27FC236}">
                <a16:creationId xmlns:a16="http://schemas.microsoft.com/office/drawing/2014/main" id="{80E83F15-27CC-455C-83BB-3E73E5822515}"/>
              </a:ext>
            </a:extLst>
          </p:cNvPr>
          <p:cNvSpPr>
            <a:spLocks xmlns:a="http://schemas.openxmlformats.org/drawingml/2006/main" noGrp="1"/>
          </p:cNvSpPr>
          <p:nvPr/>
        </p:nvSpPr>
        <p:spPr>
          <a:xfrm xmlns:a="http://schemas.openxmlformats.org/drawingml/2006/main">
            <a:off x="10763250" y="0"/>
            <a:ext cx="228600" cy="22860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Tree>
    <p:extLst>
      <p:ext uri="{BB962C8B-B14F-4D97-AF65-F5344CB8AC3E}">
        <p14:creationId xmlns:p14="http://schemas.microsoft.com/office/powerpoint/2010/main" val="18396830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F41AB6E-91FC-461A-BE47-CBF47937A1EC}"/>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5A1479EE-16D4-4F96-98F7-40B938C8ED27}"/>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Nhóm đi từ dữ liệu sạch đến kết luận qua 6 bước</a:t>
            </a:r>
          </a:p>
        </p:txBody>
      </p:sp>
      <p:cxnSp>
        <p:nvCxnSpPr>
          <p:cNvPr id="32"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234639F1-533B-418F-B9D3-39CF2F8A3F13}"/>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2</a:t>
            </a:r>
          </a:p>
        </p:txBody>
      </p:sp>
      <p:cxnSp>
        <p:nvCxnSpPr>
          <p:cNvPr id="34" name=""/>
          <p:cNvCxnSpPr/>
          <p:nvPr/>
        </p:nvCxnSpPr>
        <p:spPr>
          <a:xfrm xmlns:a="http://schemas.openxmlformats.org/drawingml/2006/main">
            <a:off x="1047750" y="3286125"/>
            <a:ext cx="10096500" cy="0"/>
          </a:xfrm>
          <a:prstGeom xmlns:a="http://schemas.openxmlformats.org/drawingml/2006/main" prst="straightConnector1">
            <a:avLst/>
          </a:prstGeom>
          <a:ln xmlns:a="http://schemas.openxmlformats.org/drawingml/2006/main" w="19050">
            <a:solidFill>
              <a:srgbClr val="000000"/>
            </a:solidFill>
            <a:prstDash val="solid"/>
          </a:ln>
        </p:spPr>
      </p:cxnSp>
      <p:sp>
        <p:nvSpPr>
          <p:cNvPr id="6" name="">
            <a:extLst xmlns:a="http://schemas.openxmlformats.org/drawingml/2006/main">
              <a:ext uri="{FF2B5EF4-FFF2-40B4-BE49-F238E27FC236}">
                <a16:creationId xmlns:a16="http://schemas.microsoft.com/office/drawing/2014/main" id="{45F4F21A-5B3C-47A2-99D9-5058CA245261}"/>
              </a:ext>
            </a:extLst>
          </p:cNvPr>
          <p:cNvSpPr>
            <a:spLocks xmlns:a="http://schemas.openxmlformats.org/drawingml/2006/main" noGrp="1"/>
          </p:cNvSpPr>
          <p:nvPr/>
        </p:nvSpPr>
        <p:spPr>
          <a:xfrm xmlns:a="http://schemas.openxmlformats.org/drawingml/2006/main">
            <a:off x="742950" y="3057525"/>
            <a:ext cx="457200" cy="4572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704851CA-0152-4578-9934-551508941789}"/>
              </a:ext>
            </a:extLst>
          </p:cNvPr>
          <p:cNvSpPr>
            <a:spLocks xmlns:a="http://schemas.openxmlformats.org/drawingml/2006/main" noGrp="1"/>
          </p:cNvSpPr>
          <p:nvPr/>
        </p:nvSpPr>
        <p:spPr>
          <a:xfrm xmlns:a="http://schemas.openxmlformats.org/drawingml/2006/main">
            <a:off x="742950" y="31337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9399DC2C-7CED-462E-9ABF-5174B76FDF1C}"/>
              </a:ext>
            </a:extLst>
          </p:cNvPr>
          <p:cNvSpPr>
            <a:spLocks xmlns:a="http://schemas.openxmlformats.org/drawingml/2006/main" noGrp="1"/>
          </p:cNvSpPr>
          <p:nvPr/>
        </p:nvSpPr>
        <p:spPr>
          <a:xfrm xmlns:a="http://schemas.openxmlformats.org/drawingml/2006/main">
            <a:off x="571500" y="223837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Kiểm tra</a:t>
            </a:r>
          </a:p>
        </p:txBody>
      </p:sp>
      <p:sp>
        <p:nvSpPr>
          <p:cNvPr id="9" name="">
            <a:extLst xmlns:a="http://schemas.openxmlformats.org/drawingml/2006/main">
              <a:ext uri="{FF2B5EF4-FFF2-40B4-BE49-F238E27FC236}">
                <a16:creationId xmlns:a16="http://schemas.microsoft.com/office/drawing/2014/main" id="{2E224C47-4DA3-4550-82E7-22CCB2AC1F0D}"/>
              </a:ext>
            </a:extLst>
          </p:cNvPr>
          <p:cNvSpPr>
            <a:spLocks xmlns:a="http://schemas.openxmlformats.org/drawingml/2006/main" noGrp="1"/>
          </p:cNvSpPr>
          <p:nvPr/>
        </p:nvSpPr>
        <p:spPr>
          <a:xfrm xmlns:a="http://schemas.openxmlformats.org/drawingml/2006/main">
            <a:off x="571500" y="3714750"/>
            <a:ext cx="1476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Thiếu, trùng,</a:t>
            </a:r>
          </a:p>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phạm vi</a:t>
            </a:r>
          </a:p>
        </p:txBody>
      </p:sp>
      <p:sp>
        <p:nvSpPr>
          <p:cNvPr id="10" name="">
            <a:extLst xmlns:a="http://schemas.openxmlformats.org/drawingml/2006/main">
              <a:ext uri="{FF2B5EF4-FFF2-40B4-BE49-F238E27FC236}">
                <a16:creationId xmlns:a16="http://schemas.microsoft.com/office/drawing/2014/main" id="{DDDCF8BE-E746-4E56-BE4B-4B0A1AEB5E78}"/>
              </a:ext>
            </a:extLst>
          </p:cNvPr>
          <p:cNvSpPr>
            <a:spLocks xmlns:a="http://schemas.openxmlformats.org/drawingml/2006/main" noGrp="1"/>
          </p:cNvSpPr>
          <p:nvPr/>
        </p:nvSpPr>
        <p:spPr>
          <a:xfrm xmlns:a="http://schemas.openxmlformats.org/drawingml/2006/main">
            <a:off x="2667000" y="3057525"/>
            <a:ext cx="457200" cy="4572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9E70BA3-382D-4C32-AFD7-3528585F528F}"/>
              </a:ext>
            </a:extLst>
          </p:cNvPr>
          <p:cNvSpPr>
            <a:spLocks xmlns:a="http://schemas.openxmlformats.org/drawingml/2006/main" noGrp="1"/>
          </p:cNvSpPr>
          <p:nvPr/>
        </p:nvSpPr>
        <p:spPr>
          <a:xfrm xmlns:a="http://schemas.openxmlformats.org/drawingml/2006/main">
            <a:off x="2667000" y="31337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15465A5C-6641-49E5-AD81-4F5C2F6913F2}"/>
              </a:ext>
            </a:extLst>
          </p:cNvPr>
          <p:cNvSpPr>
            <a:spLocks xmlns:a="http://schemas.openxmlformats.org/drawingml/2006/main" noGrp="1"/>
          </p:cNvSpPr>
          <p:nvPr/>
        </p:nvSpPr>
        <p:spPr>
          <a:xfrm xmlns:a="http://schemas.openxmlformats.org/drawingml/2006/main">
            <a:off x="2495550" y="223837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Mô tả</a:t>
            </a:r>
          </a:p>
        </p:txBody>
      </p:sp>
      <p:sp>
        <p:nvSpPr>
          <p:cNvPr id="13" name="">
            <a:extLst xmlns:a="http://schemas.openxmlformats.org/drawingml/2006/main">
              <a:ext uri="{FF2B5EF4-FFF2-40B4-BE49-F238E27FC236}">
                <a16:creationId xmlns:a16="http://schemas.microsoft.com/office/drawing/2014/main" id="{00F3E1F1-6ABE-4343-B333-9717458C04C6}"/>
              </a:ext>
            </a:extLst>
          </p:cNvPr>
          <p:cNvSpPr>
            <a:spLocks xmlns:a="http://schemas.openxmlformats.org/drawingml/2006/main" noGrp="1"/>
          </p:cNvSpPr>
          <p:nvPr/>
        </p:nvSpPr>
        <p:spPr>
          <a:xfrm xmlns:a="http://schemas.openxmlformats.org/drawingml/2006/main">
            <a:off x="2495550" y="3714750"/>
            <a:ext cx="1476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Phân bố và</a:t>
            </a:r>
          </a:p>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nhóm dữ liệu</a:t>
            </a:r>
          </a:p>
        </p:txBody>
      </p:sp>
      <p:sp>
        <p:nvSpPr>
          <p:cNvPr id="14" name="">
            <a:extLst xmlns:a="http://schemas.openxmlformats.org/drawingml/2006/main">
              <a:ext uri="{FF2B5EF4-FFF2-40B4-BE49-F238E27FC236}">
                <a16:creationId xmlns:a16="http://schemas.microsoft.com/office/drawing/2014/main" id="{1C6E06A1-B1D3-4291-9B56-902E3C8103FD}"/>
              </a:ext>
            </a:extLst>
          </p:cNvPr>
          <p:cNvSpPr>
            <a:spLocks xmlns:a="http://schemas.openxmlformats.org/drawingml/2006/main" noGrp="1"/>
          </p:cNvSpPr>
          <p:nvPr/>
        </p:nvSpPr>
        <p:spPr>
          <a:xfrm xmlns:a="http://schemas.openxmlformats.org/drawingml/2006/main">
            <a:off x="4591050" y="3057525"/>
            <a:ext cx="457200" cy="4572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AF3B81EC-2A36-4DCF-A77D-0B58E7D9625F}"/>
              </a:ext>
            </a:extLst>
          </p:cNvPr>
          <p:cNvSpPr>
            <a:spLocks xmlns:a="http://schemas.openxmlformats.org/drawingml/2006/main" noGrp="1"/>
          </p:cNvSpPr>
          <p:nvPr/>
        </p:nvSpPr>
        <p:spPr>
          <a:xfrm xmlns:a="http://schemas.openxmlformats.org/drawingml/2006/main">
            <a:off x="4591050" y="31337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7A70ADDA-6F48-481F-AD5E-B406AFD1373F}"/>
              </a:ext>
            </a:extLst>
          </p:cNvPr>
          <p:cNvSpPr>
            <a:spLocks xmlns:a="http://schemas.openxmlformats.org/drawingml/2006/main" noGrp="1"/>
          </p:cNvSpPr>
          <p:nvPr/>
        </p:nvSpPr>
        <p:spPr>
          <a:xfrm xmlns:a="http://schemas.openxmlformats.org/drawingml/2006/main">
            <a:off x="4419600" y="223837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Chọn mẫu</a:t>
            </a:r>
          </a:p>
        </p:txBody>
      </p:sp>
      <p:sp>
        <p:nvSpPr>
          <p:cNvPr id="17" name="">
            <a:extLst xmlns:a="http://schemas.openxmlformats.org/drawingml/2006/main">
              <a:ext uri="{FF2B5EF4-FFF2-40B4-BE49-F238E27FC236}">
                <a16:creationId xmlns:a16="http://schemas.microsoft.com/office/drawing/2014/main" id="{C59A46FB-A6EC-4DF1-BE32-995B7298CAFC}"/>
              </a:ext>
            </a:extLst>
          </p:cNvPr>
          <p:cNvSpPr>
            <a:spLocks xmlns:a="http://schemas.openxmlformats.org/drawingml/2006/main" noGrp="1"/>
          </p:cNvSpPr>
          <p:nvPr/>
        </p:nvSpPr>
        <p:spPr>
          <a:xfrm xmlns:a="http://schemas.openxmlformats.org/drawingml/2006/main">
            <a:off x="4419600" y="3714750"/>
            <a:ext cx="1476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Tách 17 KTX</a:t>
            </a:r>
          </a:p>
        </p:txBody>
      </p:sp>
      <p:sp>
        <p:nvSpPr>
          <p:cNvPr id="18" name="">
            <a:extLst xmlns:a="http://schemas.openxmlformats.org/drawingml/2006/main">
              <a:ext uri="{FF2B5EF4-FFF2-40B4-BE49-F238E27FC236}">
                <a16:creationId xmlns:a16="http://schemas.microsoft.com/office/drawing/2014/main" id="{582E6035-B3A9-457A-8C49-520C0CB5044D}"/>
              </a:ext>
            </a:extLst>
          </p:cNvPr>
          <p:cNvSpPr>
            <a:spLocks xmlns:a="http://schemas.openxmlformats.org/drawingml/2006/main" noGrp="1"/>
          </p:cNvSpPr>
          <p:nvPr/>
        </p:nvSpPr>
        <p:spPr>
          <a:xfrm xmlns:a="http://schemas.openxmlformats.org/drawingml/2006/main">
            <a:off x="6515100" y="3057525"/>
            <a:ext cx="457200" cy="4572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FD69927A-ABD4-4725-8C84-0B192A2D5B89}"/>
              </a:ext>
            </a:extLst>
          </p:cNvPr>
          <p:cNvSpPr>
            <a:spLocks xmlns:a="http://schemas.openxmlformats.org/drawingml/2006/main" noGrp="1"/>
          </p:cNvSpPr>
          <p:nvPr/>
        </p:nvSpPr>
        <p:spPr>
          <a:xfrm xmlns:a="http://schemas.openxmlformats.org/drawingml/2006/main">
            <a:off x="6515100" y="31337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04</a:t>
            </a:r>
          </a:p>
        </p:txBody>
      </p:sp>
      <p:sp>
        <p:nvSpPr>
          <p:cNvPr id="20" name="">
            <a:extLst xmlns:a="http://schemas.openxmlformats.org/drawingml/2006/main">
              <a:ext uri="{FF2B5EF4-FFF2-40B4-BE49-F238E27FC236}">
                <a16:creationId xmlns:a16="http://schemas.microsoft.com/office/drawing/2014/main" id="{E2DAFF27-A764-4EBA-BD09-18ACAD92C969}"/>
              </a:ext>
            </a:extLst>
          </p:cNvPr>
          <p:cNvSpPr>
            <a:spLocks xmlns:a="http://schemas.openxmlformats.org/drawingml/2006/main" noGrp="1"/>
          </p:cNvSpPr>
          <p:nvPr/>
        </p:nvSpPr>
        <p:spPr>
          <a:xfrm xmlns:a="http://schemas.openxmlformats.org/drawingml/2006/main">
            <a:off x="6343650" y="223837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Ước lượng</a:t>
            </a:r>
          </a:p>
        </p:txBody>
      </p:sp>
      <p:sp>
        <p:nvSpPr>
          <p:cNvPr id="21" name="">
            <a:extLst xmlns:a="http://schemas.openxmlformats.org/drawingml/2006/main">
              <a:ext uri="{FF2B5EF4-FFF2-40B4-BE49-F238E27FC236}">
                <a16:creationId xmlns:a16="http://schemas.microsoft.com/office/drawing/2014/main" id="{89519BDE-465A-4F2C-B45A-B605CF211737}"/>
              </a:ext>
            </a:extLst>
          </p:cNvPr>
          <p:cNvSpPr>
            <a:spLocks xmlns:a="http://schemas.openxmlformats.org/drawingml/2006/main" noGrp="1"/>
          </p:cNvSpPr>
          <p:nvPr/>
        </p:nvSpPr>
        <p:spPr>
          <a:xfrm xmlns:a="http://schemas.openxmlformats.org/drawingml/2006/main">
            <a:off x="6343650" y="3714750"/>
            <a:ext cx="1476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β̂0, β̂1 bằng OLS</a:t>
            </a:r>
          </a:p>
        </p:txBody>
      </p:sp>
      <p:sp>
        <p:nvSpPr>
          <p:cNvPr id="22" name="">
            <a:extLst xmlns:a="http://schemas.openxmlformats.org/drawingml/2006/main">
              <a:ext uri="{FF2B5EF4-FFF2-40B4-BE49-F238E27FC236}">
                <a16:creationId xmlns:a16="http://schemas.microsoft.com/office/drawing/2014/main" id="{C350A3EE-BF53-4875-80CD-9E4141E4F8E4}"/>
              </a:ext>
            </a:extLst>
          </p:cNvPr>
          <p:cNvSpPr>
            <a:spLocks xmlns:a="http://schemas.openxmlformats.org/drawingml/2006/main" noGrp="1"/>
          </p:cNvSpPr>
          <p:nvPr/>
        </p:nvSpPr>
        <p:spPr>
          <a:xfrm xmlns:a="http://schemas.openxmlformats.org/drawingml/2006/main">
            <a:off x="8439150" y="3057525"/>
            <a:ext cx="457200" cy="4572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5800BA47-193A-4B0D-9FF2-0FC46A730622}"/>
              </a:ext>
            </a:extLst>
          </p:cNvPr>
          <p:cNvSpPr>
            <a:spLocks xmlns:a="http://schemas.openxmlformats.org/drawingml/2006/main" noGrp="1"/>
          </p:cNvSpPr>
          <p:nvPr/>
        </p:nvSpPr>
        <p:spPr>
          <a:xfrm xmlns:a="http://schemas.openxmlformats.org/drawingml/2006/main">
            <a:off x="8439150" y="31337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05</a:t>
            </a:r>
          </a:p>
        </p:txBody>
      </p:sp>
      <p:sp>
        <p:nvSpPr>
          <p:cNvPr id="24" name="">
            <a:extLst xmlns:a="http://schemas.openxmlformats.org/drawingml/2006/main">
              <a:ext uri="{FF2B5EF4-FFF2-40B4-BE49-F238E27FC236}">
                <a16:creationId xmlns:a16="http://schemas.microsoft.com/office/drawing/2014/main" id="{674AAF3C-7C1C-4605-A997-5B1789C6470B}"/>
              </a:ext>
            </a:extLst>
          </p:cNvPr>
          <p:cNvSpPr>
            <a:spLocks xmlns:a="http://schemas.openxmlformats.org/drawingml/2006/main" noGrp="1"/>
          </p:cNvSpPr>
          <p:nvPr/>
        </p:nvSpPr>
        <p:spPr>
          <a:xfrm xmlns:a="http://schemas.openxmlformats.org/drawingml/2006/main">
            <a:off x="8267700" y="223837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Kiểm định</a:t>
            </a:r>
          </a:p>
        </p:txBody>
      </p:sp>
      <p:sp>
        <p:nvSpPr>
          <p:cNvPr id="25" name="">
            <a:extLst xmlns:a="http://schemas.openxmlformats.org/drawingml/2006/main">
              <a:ext uri="{FF2B5EF4-FFF2-40B4-BE49-F238E27FC236}">
                <a16:creationId xmlns:a16="http://schemas.microsoft.com/office/drawing/2014/main" id="{D534E5C1-7D2F-449F-BAF7-0735F276BD0F}"/>
              </a:ext>
            </a:extLst>
          </p:cNvPr>
          <p:cNvSpPr>
            <a:spLocks xmlns:a="http://schemas.openxmlformats.org/drawingml/2006/main" noGrp="1"/>
          </p:cNvSpPr>
          <p:nvPr/>
        </p:nvSpPr>
        <p:spPr>
          <a:xfrm xmlns:a="http://schemas.openxmlformats.org/drawingml/2006/main">
            <a:off x="8267700" y="3714750"/>
            <a:ext cx="1476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SE, t, p, CI</a:t>
            </a:r>
          </a:p>
        </p:txBody>
      </p:sp>
      <p:sp>
        <p:nvSpPr>
          <p:cNvPr id="26" name="">
            <a:extLst xmlns:a="http://schemas.openxmlformats.org/drawingml/2006/main">
              <a:ext uri="{FF2B5EF4-FFF2-40B4-BE49-F238E27FC236}">
                <a16:creationId xmlns:a16="http://schemas.microsoft.com/office/drawing/2014/main" id="{48624EF8-5AC3-48C7-8D16-2CC19ECB8D40}"/>
              </a:ext>
            </a:extLst>
          </p:cNvPr>
          <p:cNvSpPr>
            <a:spLocks xmlns:a="http://schemas.openxmlformats.org/drawingml/2006/main" noGrp="1"/>
          </p:cNvSpPr>
          <p:nvPr/>
        </p:nvSpPr>
        <p:spPr>
          <a:xfrm xmlns:a="http://schemas.openxmlformats.org/drawingml/2006/main">
            <a:off x="10363200" y="3057525"/>
            <a:ext cx="457200" cy="457200"/>
          </a:xfrm>
          <a:prstGeom xmlns:a="http://schemas.openxmlformats.org/drawingml/2006/main" prst="ellipse">
            <a:avLst/>
          </a:prstGeom>
          <a:solidFill xmlns:a="http://schemas.openxmlformats.org/drawingml/2006/main">
            <a:srgbClr val="3D8DFF"/>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423FC55D-06E8-4B69-8FDB-E75C528D8FD7}"/>
              </a:ext>
            </a:extLst>
          </p:cNvPr>
          <p:cNvSpPr>
            <a:spLocks xmlns:a="http://schemas.openxmlformats.org/drawingml/2006/main" noGrp="1"/>
          </p:cNvSpPr>
          <p:nvPr/>
        </p:nvSpPr>
        <p:spPr>
          <a:xfrm xmlns:a="http://schemas.openxmlformats.org/drawingml/2006/main">
            <a:off x="10363200" y="31337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06</a:t>
            </a:r>
          </a:p>
        </p:txBody>
      </p:sp>
      <p:sp>
        <p:nvSpPr>
          <p:cNvPr id="28" name="">
            <a:extLst xmlns:a="http://schemas.openxmlformats.org/drawingml/2006/main">
              <a:ext uri="{FF2B5EF4-FFF2-40B4-BE49-F238E27FC236}">
                <a16:creationId xmlns:a16="http://schemas.microsoft.com/office/drawing/2014/main" id="{8349BAC8-C1C6-4D31-985E-707FBA01DE97}"/>
              </a:ext>
            </a:extLst>
          </p:cNvPr>
          <p:cNvSpPr>
            <a:spLocks xmlns:a="http://schemas.openxmlformats.org/drawingml/2006/main" noGrp="1"/>
          </p:cNvSpPr>
          <p:nvPr/>
        </p:nvSpPr>
        <p:spPr>
          <a:xfrm xmlns:a="http://schemas.openxmlformats.org/drawingml/2006/main">
            <a:off x="10191750" y="2238375"/>
            <a:ext cx="123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Dự báo</a:t>
            </a:r>
          </a:p>
        </p:txBody>
      </p:sp>
      <p:sp>
        <p:nvSpPr>
          <p:cNvPr id="29" name="">
            <a:extLst xmlns:a="http://schemas.openxmlformats.org/drawingml/2006/main">
              <a:ext uri="{FF2B5EF4-FFF2-40B4-BE49-F238E27FC236}">
                <a16:creationId xmlns:a16="http://schemas.microsoft.com/office/drawing/2014/main" id="{CFEC3985-2603-42AF-8B0E-C36EA231EA5C}"/>
              </a:ext>
            </a:extLst>
          </p:cNvPr>
          <p:cNvSpPr>
            <a:spLocks xmlns:a="http://schemas.openxmlformats.org/drawingml/2006/main" noGrp="1"/>
          </p:cNvSpPr>
          <p:nvPr/>
        </p:nvSpPr>
        <p:spPr>
          <a:xfrm xmlns:a="http://schemas.openxmlformats.org/drawingml/2006/main">
            <a:off x="10191750" y="3714750"/>
            <a:ext cx="1476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Ŷ tại X0</a:t>
            </a:r>
          </a:p>
        </p:txBody>
      </p:sp>
    </p:spTree>
    <p:extLst>
      <p:ext uri="{BB962C8B-B14F-4D97-AF65-F5344CB8AC3E}">
        <p14:creationId xmlns:p14="http://schemas.microsoft.com/office/powerpoint/2010/main" val="5816337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5E22353-5F73-4531-8689-D1F8C92C81E0}"/>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D2F683B5-6BED-4B2F-82E7-005E8DDF832A}"/>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98366"/>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Mỗi thành viên chịu trách nhiệm một đầu ra có thể kiểm chứng</a:t>
            </a:r>
          </a:p>
        </p:txBody>
      </p:sp>
      <p:cxnSp>
        <p:nvCxnSpPr>
          <p:cNvPr id="23"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5291D701-714C-490C-A096-17FD5A8C7388}"/>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3</a:t>
            </a:r>
          </a:p>
        </p:txBody>
      </p:sp>
      <p:sp>
        <p:nvSpPr>
          <p:cNvPr id="5" name="">
            <a:extLst xmlns:a="http://schemas.openxmlformats.org/drawingml/2006/main">
              <a:ext uri="{FF2B5EF4-FFF2-40B4-BE49-F238E27FC236}">
                <a16:creationId xmlns:a16="http://schemas.microsoft.com/office/drawing/2014/main" id="{992755A8-70BD-4F13-B502-278F90CC61AD}"/>
              </a:ext>
            </a:extLst>
          </p:cNvPr>
          <p:cNvSpPr>
            <a:spLocks xmlns:a="http://schemas.openxmlformats.org/drawingml/2006/main" noGrp="1"/>
          </p:cNvSpPr>
          <p:nvPr/>
        </p:nvSpPr>
        <p:spPr>
          <a:xfrm xmlns:a="http://schemas.openxmlformats.org/drawingml/2006/main">
            <a:off x="400050" y="1809750"/>
            <a:ext cx="2571750" cy="3524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2DA4B7-23BD-44BD-BDA0-3ADDB4DE9FF9}"/>
              </a:ext>
            </a:extLst>
          </p:cNvPr>
          <p:cNvSpPr>
            <a:spLocks xmlns:a="http://schemas.openxmlformats.org/drawingml/2006/main" noGrp="1"/>
          </p:cNvSpPr>
          <p:nvPr/>
        </p:nvSpPr>
        <p:spPr>
          <a:xfrm xmlns:a="http://schemas.openxmlformats.org/drawingml/2006/main">
            <a:off x="628650" y="20955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[Tên 1]</a:t>
            </a:r>
          </a:p>
        </p:txBody>
      </p:sp>
      <p:sp>
        <p:nvSpPr>
          <p:cNvPr id="7" name="">
            <a:extLst xmlns:a="http://schemas.openxmlformats.org/drawingml/2006/main">
              <a:ext uri="{FF2B5EF4-FFF2-40B4-BE49-F238E27FC236}">
                <a16:creationId xmlns:a16="http://schemas.microsoft.com/office/drawing/2014/main" id="{6D65D80C-5176-472B-80CE-537C013ECA40}"/>
              </a:ext>
            </a:extLst>
          </p:cNvPr>
          <p:cNvSpPr>
            <a:spLocks xmlns:a="http://schemas.openxmlformats.org/drawingml/2006/main" noGrp="1"/>
          </p:cNvSpPr>
          <p:nvPr/>
        </p:nvSpPr>
        <p:spPr>
          <a:xfrm xmlns:a="http://schemas.openxmlformats.org/drawingml/2006/main">
            <a:off x="628650" y="2714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Thu thập dữ liệu</a:t>
            </a:r>
          </a:p>
        </p:txBody>
      </p:sp>
      <p:sp>
        <p:nvSpPr>
          <p:cNvPr id="8" name="">
            <a:extLst xmlns:a="http://schemas.openxmlformats.org/drawingml/2006/main">
              <a:ext uri="{FF2B5EF4-FFF2-40B4-BE49-F238E27FC236}">
                <a16:creationId xmlns:a16="http://schemas.microsoft.com/office/drawing/2014/main" id="{6C91D760-AD11-4675-B9A8-4390E752CF4D}"/>
              </a:ext>
            </a:extLst>
          </p:cNvPr>
          <p:cNvSpPr>
            <a:spLocks xmlns:a="http://schemas.openxmlformats.org/drawingml/2006/main" noGrp="1"/>
          </p:cNvSpPr>
          <p:nvPr/>
        </p:nvSpPr>
        <p:spPr>
          <a:xfrm xmlns:a="http://schemas.openxmlformats.org/drawingml/2006/main">
            <a:off x="628650" y="3667125"/>
            <a:ext cx="2095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Thiết kế câu hỏi</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Tổng hợp phản hồi</a:t>
            </a:r>
          </a:p>
        </p:txBody>
      </p:sp>
      <p:sp>
        <p:nvSpPr>
          <p:cNvPr id="9" name="">
            <a:extLst xmlns:a="http://schemas.openxmlformats.org/drawingml/2006/main">
              <a:ext uri="{FF2B5EF4-FFF2-40B4-BE49-F238E27FC236}">
                <a16:creationId xmlns:a16="http://schemas.microsoft.com/office/drawing/2014/main" id="{38A9708D-F114-4601-8473-B3641D5D91FC}"/>
              </a:ext>
            </a:extLst>
          </p:cNvPr>
          <p:cNvSpPr>
            <a:spLocks xmlns:a="http://schemas.openxmlformats.org/drawingml/2006/main" noGrp="1"/>
          </p:cNvSpPr>
          <p:nvPr/>
        </p:nvSpPr>
        <p:spPr>
          <a:xfrm xmlns:a="http://schemas.openxmlformats.org/drawingml/2006/main">
            <a:off x="3276600" y="1809750"/>
            <a:ext cx="2571750" cy="3524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219D5E-74BE-458A-984C-1D7787A8B2D8}"/>
              </a:ext>
            </a:extLst>
          </p:cNvPr>
          <p:cNvSpPr>
            <a:spLocks xmlns:a="http://schemas.openxmlformats.org/drawingml/2006/main" noGrp="1"/>
          </p:cNvSpPr>
          <p:nvPr/>
        </p:nvSpPr>
        <p:spPr>
          <a:xfrm xmlns:a="http://schemas.openxmlformats.org/drawingml/2006/main">
            <a:off x="3505200" y="20955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[Tên 2]</a:t>
            </a:r>
          </a:p>
        </p:txBody>
      </p:sp>
      <p:sp>
        <p:nvSpPr>
          <p:cNvPr id="11" name="">
            <a:extLst xmlns:a="http://schemas.openxmlformats.org/drawingml/2006/main">
              <a:ext uri="{FF2B5EF4-FFF2-40B4-BE49-F238E27FC236}">
                <a16:creationId xmlns:a16="http://schemas.microsoft.com/office/drawing/2014/main" id="{B5DC169B-D52F-4ED8-A731-AC37C6DF8E42}"/>
              </a:ext>
            </a:extLst>
          </p:cNvPr>
          <p:cNvSpPr>
            <a:spLocks xmlns:a="http://schemas.openxmlformats.org/drawingml/2006/main" noGrp="1"/>
          </p:cNvSpPr>
          <p:nvPr/>
        </p:nvSpPr>
        <p:spPr>
          <a:xfrm xmlns:a="http://schemas.openxmlformats.org/drawingml/2006/main">
            <a:off x="3505200" y="2714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Làm sạch &amp; chọn mẫu</a:t>
            </a:r>
          </a:p>
        </p:txBody>
      </p:sp>
      <p:sp>
        <p:nvSpPr>
          <p:cNvPr id="12" name="">
            <a:extLst xmlns:a="http://schemas.openxmlformats.org/drawingml/2006/main">
              <a:ext uri="{FF2B5EF4-FFF2-40B4-BE49-F238E27FC236}">
                <a16:creationId xmlns:a16="http://schemas.microsoft.com/office/drawing/2014/main" id="{30A68767-1F26-4354-99CB-D9D6EE69C065}"/>
              </a:ext>
            </a:extLst>
          </p:cNvPr>
          <p:cNvSpPr>
            <a:spLocks xmlns:a="http://schemas.openxmlformats.org/drawingml/2006/main" noGrp="1"/>
          </p:cNvSpPr>
          <p:nvPr/>
        </p:nvSpPr>
        <p:spPr>
          <a:xfrm xmlns:a="http://schemas.openxmlformats.org/drawingml/2006/main">
            <a:off x="3505200" y="3667125"/>
            <a:ext cx="2095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Chuẩn hóa</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Kiểm tra thiếu/trùng</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Tách KTX</a:t>
            </a:r>
          </a:p>
        </p:txBody>
      </p:sp>
      <p:sp>
        <p:nvSpPr>
          <p:cNvPr id="13" name="">
            <a:extLst xmlns:a="http://schemas.openxmlformats.org/drawingml/2006/main">
              <a:ext uri="{FF2B5EF4-FFF2-40B4-BE49-F238E27FC236}">
                <a16:creationId xmlns:a16="http://schemas.microsoft.com/office/drawing/2014/main" id="{1267C837-6338-489F-B6FF-5874696E4A88}"/>
              </a:ext>
            </a:extLst>
          </p:cNvPr>
          <p:cNvSpPr>
            <a:spLocks xmlns:a="http://schemas.openxmlformats.org/drawingml/2006/main" noGrp="1"/>
          </p:cNvSpPr>
          <p:nvPr/>
        </p:nvSpPr>
        <p:spPr>
          <a:xfrm xmlns:a="http://schemas.openxmlformats.org/drawingml/2006/main">
            <a:off x="6153150" y="1809750"/>
            <a:ext cx="2571750" cy="3524250"/>
          </a:xfrm>
          <a:prstGeom xmlns:a="http://schemas.openxmlformats.org/drawingml/2006/main" prst="rect">
            <a:avLst/>
          </a:prstGeom>
          <a:solidFill xmlns:a="http://schemas.openxmlformats.org/drawingml/2006/main">
            <a:srgbClr val="E5F3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05E768-A7AE-417A-8930-CB19C5100833}"/>
              </a:ext>
            </a:extLst>
          </p:cNvPr>
          <p:cNvSpPr>
            <a:spLocks xmlns:a="http://schemas.openxmlformats.org/drawingml/2006/main" noGrp="1"/>
          </p:cNvSpPr>
          <p:nvPr/>
        </p:nvSpPr>
        <p:spPr>
          <a:xfrm xmlns:a="http://schemas.openxmlformats.org/drawingml/2006/main">
            <a:off x="6381750" y="20955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[Tên 3]</a:t>
            </a:r>
          </a:p>
        </p:txBody>
      </p:sp>
      <p:sp>
        <p:nvSpPr>
          <p:cNvPr id="15" name="">
            <a:extLst xmlns:a="http://schemas.openxmlformats.org/drawingml/2006/main">
              <a:ext uri="{FF2B5EF4-FFF2-40B4-BE49-F238E27FC236}">
                <a16:creationId xmlns:a16="http://schemas.microsoft.com/office/drawing/2014/main" id="{62B68BD2-91AC-4BE1-BC80-B3ABEAD4412E}"/>
              </a:ext>
            </a:extLst>
          </p:cNvPr>
          <p:cNvSpPr>
            <a:spLocks xmlns:a="http://schemas.openxmlformats.org/drawingml/2006/main" noGrp="1"/>
          </p:cNvSpPr>
          <p:nvPr/>
        </p:nvSpPr>
        <p:spPr>
          <a:xfrm xmlns:a="http://schemas.openxmlformats.org/drawingml/2006/main">
            <a:off x="6381750" y="2714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Excel &amp; ước lượng</a:t>
            </a:r>
          </a:p>
        </p:txBody>
      </p:sp>
      <p:sp>
        <p:nvSpPr>
          <p:cNvPr id="16" name="">
            <a:extLst xmlns:a="http://schemas.openxmlformats.org/drawingml/2006/main">
              <a:ext uri="{FF2B5EF4-FFF2-40B4-BE49-F238E27FC236}">
                <a16:creationId xmlns:a16="http://schemas.microsoft.com/office/drawing/2014/main" id="{87094F1C-FF78-49DD-AD33-21F51D84CCCC}"/>
              </a:ext>
            </a:extLst>
          </p:cNvPr>
          <p:cNvSpPr>
            <a:spLocks xmlns:a="http://schemas.openxmlformats.org/drawingml/2006/main" noGrp="1"/>
          </p:cNvSpPr>
          <p:nvPr/>
        </p:nvSpPr>
        <p:spPr>
          <a:xfrm xmlns:a="http://schemas.openxmlformats.org/drawingml/2006/main">
            <a:off x="6381750" y="3667125"/>
            <a:ext cx="2095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Cột tính OLS</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SE, t, p, CI</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Dự báo</a:t>
            </a:r>
          </a:p>
        </p:txBody>
      </p:sp>
      <p:sp>
        <p:nvSpPr>
          <p:cNvPr id="17" name="">
            <a:extLst xmlns:a="http://schemas.openxmlformats.org/drawingml/2006/main">
              <a:ext uri="{FF2B5EF4-FFF2-40B4-BE49-F238E27FC236}">
                <a16:creationId xmlns:a16="http://schemas.microsoft.com/office/drawing/2014/main" id="{98DC8C1E-6F64-4F8A-A768-125931536366}"/>
              </a:ext>
            </a:extLst>
          </p:cNvPr>
          <p:cNvSpPr>
            <a:spLocks xmlns:a="http://schemas.openxmlformats.org/drawingml/2006/main" noGrp="1"/>
          </p:cNvSpPr>
          <p:nvPr/>
        </p:nvSpPr>
        <p:spPr>
          <a:xfrm xmlns:a="http://schemas.openxmlformats.org/drawingml/2006/main">
            <a:off x="9029700" y="1809750"/>
            <a:ext cx="2571750" cy="3524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155CB3-F7E8-4EE6-B6B2-D51F7719458B}"/>
              </a:ext>
            </a:extLst>
          </p:cNvPr>
          <p:cNvSpPr>
            <a:spLocks xmlns:a="http://schemas.openxmlformats.org/drawingml/2006/main" noGrp="1"/>
          </p:cNvSpPr>
          <p:nvPr/>
        </p:nvSpPr>
        <p:spPr>
          <a:xfrm xmlns:a="http://schemas.openxmlformats.org/drawingml/2006/main">
            <a:off x="9258300" y="20955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[Tên 4]</a:t>
            </a:r>
          </a:p>
        </p:txBody>
      </p:sp>
      <p:sp>
        <p:nvSpPr>
          <p:cNvPr id="19" name="">
            <a:extLst xmlns:a="http://schemas.openxmlformats.org/drawingml/2006/main">
              <a:ext uri="{FF2B5EF4-FFF2-40B4-BE49-F238E27FC236}">
                <a16:creationId xmlns:a16="http://schemas.microsoft.com/office/drawing/2014/main" id="{07F7ECC4-CED9-40F7-B61E-D3B843743128}"/>
              </a:ext>
            </a:extLst>
          </p:cNvPr>
          <p:cNvSpPr>
            <a:spLocks xmlns:a="http://schemas.openxmlformats.org/drawingml/2006/main" noGrp="1"/>
          </p:cNvSpPr>
          <p:nvPr/>
        </p:nvSpPr>
        <p:spPr>
          <a:xfrm xmlns:a="http://schemas.openxmlformats.org/drawingml/2006/main">
            <a:off x="9258300" y="2714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Slide &amp; diễn giải</a:t>
            </a:r>
          </a:p>
        </p:txBody>
      </p:sp>
      <p:sp>
        <p:nvSpPr>
          <p:cNvPr id="20" name="">
            <a:extLst xmlns:a="http://schemas.openxmlformats.org/drawingml/2006/main">
              <a:ext uri="{FF2B5EF4-FFF2-40B4-BE49-F238E27FC236}">
                <a16:creationId xmlns:a16="http://schemas.microsoft.com/office/drawing/2014/main" id="{ECDAA8BA-1AC2-4EF0-A98B-C6193305AAF8}"/>
              </a:ext>
            </a:extLst>
          </p:cNvPr>
          <p:cNvSpPr>
            <a:spLocks xmlns:a="http://schemas.openxmlformats.org/drawingml/2006/main" noGrp="1"/>
          </p:cNvSpPr>
          <p:nvPr/>
        </p:nvSpPr>
        <p:spPr>
          <a:xfrm xmlns:a="http://schemas.openxmlformats.org/drawingml/2006/main">
            <a:off x="9258300" y="3667125"/>
            <a:ext cx="2095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Biểu đồ</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Kết luận</a:t>
            </a:r>
          </a:p>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Giới hạn</a:t>
            </a:r>
          </a:p>
        </p:txBody>
      </p:sp>
    </p:spTree>
    <p:extLst>
      <p:ext uri="{BB962C8B-B14F-4D97-AF65-F5344CB8AC3E}">
        <p14:creationId xmlns:p14="http://schemas.microsoft.com/office/powerpoint/2010/main" val="14285804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BC411E4-1DCF-4BF2-8988-16F182C8F8AD}"/>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CCF004B0-1FDA-4006-BFE3-7EA652092F54}"/>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Mẫu sạch có 76 quan sát và không còn lỗi cơ bản</a:t>
            </a:r>
          </a:p>
        </p:txBody>
      </p:sp>
      <p:cxnSp>
        <p:nvCxnSpPr>
          <p:cNvPr id="19"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AAEC1DAC-8608-4173-8415-935D031B0548}"/>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4</a:t>
            </a:r>
          </a:p>
        </p:txBody>
      </p:sp>
      <p:sp>
        <p:nvSpPr>
          <p:cNvPr id="5" name="">
            <a:extLst xmlns:a="http://schemas.openxmlformats.org/drawingml/2006/main">
              <a:ext uri="{FF2B5EF4-FFF2-40B4-BE49-F238E27FC236}">
                <a16:creationId xmlns:a16="http://schemas.microsoft.com/office/drawing/2014/main" id="{8B10EA57-E3C5-483E-9FE7-B1DCB01D067D}"/>
              </a:ext>
            </a:extLst>
          </p:cNvPr>
          <p:cNvSpPr>
            <a:spLocks xmlns:a="http://schemas.openxmlformats.org/drawingml/2006/main" noGrp="1"/>
          </p:cNvSpPr>
          <p:nvPr/>
        </p:nvSpPr>
        <p:spPr>
          <a:xfrm xmlns:a="http://schemas.openxmlformats.org/drawingml/2006/main">
            <a:off x="400050" y="1952625"/>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3D8DFF"/>
                </a:solidFill>
                <a:latin typeface="Helvetica Neue"/>
                <a:ea typeface="Helvetica Neue"/>
                <a:cs typeface="Helvetica Neue"/>
              </a:defRPr>
            </a:pPr>
            <a:r>
              <a:rPr sz="4800" b="1">
                <a:solidFill>
                  <a:srgbClr val="3D8DFF"/>
                </a:solidFill>
                <a:latin typeface="Helvetica Neue"/>
                <a:ea typeface="Helvetica Neue"/>
                <a:cs typeface="Helvetica Neue"/>
              </a:rPr>
              <a:t>76</a:t>
            </a:r>
          </a:p>
        </p:txBody>
      </p:sp>
      <p:sp>
        <p:nvSpPr>
          <p:cNvPr id="6" name="">
            <a:extLst xmlns:a="http://schemas.openxmlformats.org/drawingml/2006/main">
              <a:ext uri="{FF2B5EF4-FFF2-40B4-BE49-F238E27FC236}">
                <a16:creationId xmlns:a16="http://schemas.microsoft.com/office/drawing/2014/main" id="{F9F7F4E7-B032-4A1D-9FCF-02E9C691136C}"/>
              </a:ext>
            </a:extLst>
          </p:cNvPr>
          <p:cNvSpPr>
            <a:spLocks xmlns:a="http://schemas.openxmlformats.org/drawingml/2006/main" noGrp="1"/>
          </p:cNvSpPr>
          <p:nvPr/>
        </p:nvSpPr>
        <p:spPr>
          <a:xfrm xmlns:a="http://schemas.openxmlformats.org/drawingml/2006/main">
            <a:off x="400050" y="300037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quan sát</a:t>
            </a:r>
          </a:p>
        </p:txBody>
      </p:sp>
      <p:sp>
        <p:nvSpPr>
          <p:cNvPr id="7" name="">
            <a:extLst xmlns:a="http://schemas.openxmlformats.org/drawingml/2006/main">
              <a:ext uri="{FF2B5EF4-FFF2-40B4-BE49-F238E27FC236}">
                <a16:creationId xmlns:a16="http://schemas.microsoft.com/office/drawing/2014/main" id="{38A0FAE3-F17A-42E1-802F-A001E22C9839}"/>
              </a:ext>
            </a:extLst>
          </p:cNvPr>
          <p:cNvSpPr>
            <a:spLocks xmlns:a="http://schemas.openxmlformats.org/drawingml/2006/main" noGrp="1"/>
          </p:cNvSpPr>
          <p:nvPr/>
        </p:nvSpPr>
        <p:spPr>
          <a:xfrm xmlns:a="http://schemas.openxmlformats.org/drawingml/2006/main">
            <a:off x="3276600" y="1952625"/>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000000"/>
                </a:solidFill>
                <a:latin typeface="Helvetica Neue"/>
                <a:ea typeface="Helvetica Neue"/>
                <a:cs typeface="Helvetica Neue"/>
              </a:defRPr>
            </a:pPr>
            <a:r>
              <a:rPr sz="4800" b="1">
                <a:solidFill>
                  <a:srgbClr val="000000"/>
                </a:solidFill>
                <a:latin typeface="Helvetica Neue"/>
                <a:ea typeface="Helvetica Neue"/>
                <a:cs typeface="Helvetica Neue"/>
              </a:rPr>
              <a:t>0</a:t>
            </a:r>
          </a:p>
        </p:txBody>
      </p:sp>
      <p:sp>
        <p:nvSpPr>
          <p:cNvPr id="8" name="">
            <a:extLst xmlns:a="http://schemas.openxmlformats.org/drawingml/2006/main">
              <a:ext uri="{FF2B5EF4-FFF2-40B4-BE49-F238E27FC236}">
                <a16:creationId xmlns:a16="http://schemas.microsoft.com/office/drawing/2014/main" id="{69C90AA7-A987-4F81-926D-26BD31A2E4D8}"/>
              </a:ext>
            </a:extLst>
          </p:cNvPr>
          <p:cNvSpPr>
            <a:spLocks xmlns:a="http://schemas.openxmlformats.org/drawingml/2006/main" noGrp="1"/>
          </p:cNvSpPr>
          <p:nvPr/>
        </p:nvSpPr>
        <p:spPr>
          <a:xfrm xmlns:a="http://schemas.openxmlformats.org/drawingml/2006/main">
            <a:off x="3276600" y="300037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ô bắt buộc bị thiếu</a:t>
            </a:r>
          </a:p>
        </p:txBody>
      </p:sp>
      <p:sp>
        <p:nvSpPr>
          <p:cNvPr id="9" name="">
            <a:extLst xmlns:a="http://schemas.openxmlformats.org/drawingml/2006/main">
              <a:ext uri="{FF2B5EF4-FFF2-40B4-BE49-F238E27FC236}">
                <a16:creationId xmlns:a16="http://schemas.microsoft.com/office/drawing/2014/main" id="{80134F60-99E6-4893-B7F5-C7B9E2F3263E}"/>
              </a:ext>
            </a:extLst>
          </p:cNvPr>
          <p:cNvSpPr>
            <a:spLocks xmlns:a="http://schemas.openxmlformats.org/drawingml/2006/main" noGrp="1"/>
          </p:cNvSpPr>
          <p:nvPr/>
        </p:nvSpPr>
        <p:spPr>
          <a:xfrm xmlns:a="http://schemas.openxmlformats.org/drawingml/2006/main">
            <a:off x="6153150" y="1952625"/>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000000"/>
                </a:solidFill>
                <a:latin typeface="Helvetica Neue"/>
                <a:ea typeface="Helvetica Neue"/>
                <a:cs typeface="Helvetica Neue"/>
              </a:defRPr>
            </a:pPr>
            <a:r>
              <a:rPr sz="4800" b="1">
                <a:solidFill>
                  <a:srgbClr val="000000"/>
                </a:solidFill>
                <a:latin typeface="Helvetica Neue"/>
                <a:ea typeface="Helvetica Neue"/>
                <a:cs typeface="Helvetica Neue"/>
              </a:rPr>
              <a:t>0</a:t>
            </a:r>
          </a:p>
        </p:txBody>
      </p:sp>
      <p:sp>
        <p:nvSpPr>
          <p:cNvPr id="10" name="">
            <a:extLst xmlns:a="http://schemas.openxmlformats.org/drawingml/2006/main">
              <a:ext uri="{FF2B5EF4-FFF2-40B4-BE49-F238E27FC236}">
                <a16:creationId xmlns:a16="http://schemas.microsoft.com/office/drawing/2014/main" id="{5D3560C5-2A87-4976-A837-5C712F45DBA9}"/>
              </a:ext>
            </a:extLst>
          </p:cNvPr>
          <p:cNvSpPr>
            <a:spLocks xmlns:a="http://schemas.openxmlformats.org/drawingml/2006/main" noGrp="1"/>
          </p:cNvSpPr>
          <p:nvPr/>
        </p:nvSpPr>
        <p:spPr>
          <a:xfrm xmlns:a="http://schemas.openxmlformats.org/drawingml/2006/main">
            <a:off x="6153150" y="300037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mã sinh viên trùng</a:t>
            </a:r>
          </a:p>
        </p:txBody>
      </p:sp>
      <p:sp>
        <p:nvSpPr>
          <p:cNvPr id="11" name="">
            <a:extLst xmlns:a="http://schemas.openxmlformats.org/drawingml/2006/main">
              <a:ext uri="{FF2B5EF4-FFF2-40B4-BE49-F238E27FC236}">
                <a16:creationId xmlns:a16="http://schemas.microsoft.com/office/drawing/2014/main" id="{4EEF8DCE-A622-439A-9B81-5C7E5430CB1D}"/>
              </a:ext>
            </a:extLst>
          </p:cNvPr>
          <p:cNvSpPr>
            <a:spLocks xmlns:a="http://schemas.openxmlformats.org/drawingml/2006/main" noGrp="1"/>
          </p:cNvSpPr>
          <p:nvPr/>
        </p:nvSpPr>
        <p:spPr>
          <a:xfrm xmlns:a="http://schemas.openxmlformats.org/drawingml/2006/main">
            <a:off x="9029700" y="1952625"/>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00" b="1">
                <a:solidFill>
                  <a:srgbClr val="000000"/>
                </a:solidFill>
                <a:latin typeface="Helvetica Neue"/>
                <a:ea typeface="Helvetica Neue"/>
                <a:cs typeface="Helvetica Neue"/>
              </a:defRPr>
            </a:pPr>
            <a:r>
              <a:rPr sz="4800" b="1">
                <a:solidFill>
                  <a:srgbClr val="000000"/>
                </a:solidFill>
                <a:latin typeface="Helvetica Neue"/>
                <a:ea typeface="Helvetica Neue"/>
                <a:cs typeface="Helvetica Neue"/>
              </a:rPr>
              <a:t>10</a:t>
            </a:r>
          </a:p>
        </p:txBody>
      </p:sp>
      <p:sp>
        <p:nvSpPr>
          <p:cNvPr id="12" name="">
            <a:extLst xmlns:a="http://schemas.openxmlformats.org/drawingml/2006/main">
              <a:ext uri="{FF2B5EF4-FFF2-40B4-BE49-F238E27FC236}">
                <a16:creationId xmlns:a16="http://schemas.microsoft.com/office/drawing/2014/main" id="{2F9B3379-128A-41DD-8559-9E0C54EE9991}"/>
              </a:ext>
            </a:extLst>
          </p:cNvPr>
          <p:cNvSpPr>
            <a:spLocks xmlns:a="http://schemas.openxmlformats.org/drawingml/2006/main" noGrp="1"/>
          </p:cNvSpPr>
          <p:nvPr/>
        </p:nvSpPr>
        <p:spPr>
          <a:xfrm xmlns:a="http://schemas.openxmlformats.org/drawingml/2006/main">
            <a:off x="9029700" y="300037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biến khảo sát</a:t>
            </a:r>
          </a:p>
        </p:txBody>
      </p:sp>
      <p:sp>
        <p:nvSpPr>
          <p:cNvPr id="13" name="">
            <a:extLst xmlns:a="http://schemas.openxmlformats.org/drawingml/2006/main">
              <a:ext uri="{FF2B5EF4-FFF2-40B4-BE49-F238E27FC236}">
                <a16:creationId xmlns:a16="http://schemas.microsoft.com/office/drawing/2014/main" id="{685AF522-2287-448A-ADED-F1E5AD0F64F7}"/>
              </a:ext>
            </a:extLst>
          </p:cNvPr>
          <p:cNvSpPr>
            <a:spLocks xmlns:a="http://schemas.openxmlformats.org/drawingml/2006/main" noGrp="1"/>
          </p:cNvSpPr>
          <p:nvPr/>
        </p:nvSpPr>
        <p:spPr>
          <a:xfrm xmlns:a="http://schemas.openxmlformats.org/drawingml/2006/main">
            <a:off x="400050" y="42862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Ba biến số được kiểm tra phạm vi</a:t>
            </a:r>
          </a:p>
        </p:txBody>
      </p:sp>
      <p:sp>
        <p:nvSpPr>
          <p:cNvPr id="14" name="">
            <a:extLst xmlns:a="http://schemas.openxmlformats.org/drawingml/2006/main">
              <a:ext uri="{FF2B5EF4-FFF2-40B4-BE49-F238E27FC236}">
                <a16:creationId xmlns:a16="http://schemas.microsoft.com/office/drawing/2014/main" id="{74A2DD0E-F0F2-4F5B-B276-63C5C0783DE0}"/>
              </a:ext>
            </a:extLst>
          </p:cNvPr>
          <p:cNvSpPr>
            <a:spLocks xmlns:a="http://schemas.openxmlformats.org/drawingml/2006/main" noGrp="1"/>
          </p:cNvSpPr>
          <p:nvPr/>
        </p:nvSpPr>
        <p:spPr>
          <a:xfrm xmlns:a="http://schemas.openxmlformats.org/drawingml/2006/main">
            <a:off x="400050" y="4857750"/>
            <a:ext cx="4762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0 &lt; Khoảng cách ≤ 15 km</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0 &lt; Giá thuê ≤ 4 triệu</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1 ≤ Số người ≤ 6</a:t>
            </a:r>
          </a:p>
        </p:txBody>
      </p:sp>
      <p:sp>
        <p:nvSpPr>
          <p:cNvPr id="15" name="">
            <a:extLst xmlns:a="http://schemas.openxmlformats.org/drawingml/2006/main">
              <a:ext uri="{FF2B5EF4-FFF2-40B4-BE49-F238E27FC236}">
                <a16:creationId xmlns:a16="http://schemas.microsoft.com/office/drawing/2014/main" id="{699CF27F-8DA4-4363-9C5D-B84504ED082D}"/>
              </a:ext>
            </a:extLst>
          </p:cNvPr>
          <p:cNvSpPr>
            <a:spLocks xmlns:a="http://schemas.openxmlformats.org/drawingml/2006/main" noGrp="1"/>
          </p:cNvSpPr>
          <p:nvPr/>
        </p:nvSpPr>
        <p:spPr>
          <a:xfrm xmlns:a="http://schemas.openxmlformats.org/drawingml/2006/main">
            <a:off x="6381750" y="42862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Các biến phân loại đã chuẩn hóa</a:t>
            </a:r>
          </a:p>
        </p:txBody>
      </p:sp>
      <p:sp>
        <p:nvSpPr>
          <p:cNvPr id="16" name="">
            <a:extLst xmlns:a="http://schemas.openxmlformats.org/drawingml/2006/main">
              <a:ext uri="{FF2B5EF4-FFF2-40B4-BE49-F238E27FC236}">
                <a16:creationId xmlns:a16="http://schemas.microsoft.com/office/drawing/2014/main" id="{B6267969-F078-41AC-ADF5-EC4DCF060EF5}"/>
              </a:ext>
            </a:extLst>
          </p:cNvPr>
          <p:cNvSpPr>
            <a:spLocks xmlns:a="http://schemas.openxmlformats.org/drawingml/2006/main" noGrp="1"/>
          </p:cNvSpPr>
          <p:nvPr/>
        </p:nvSpPr>
        <p:spPr>
          <a:xfrm xmlns:a="http://schemas.openxmlformats.org/drawingml/2006/main">
            <a:off x="6381750" y="48577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Giới tính • Ngành • Khu vực</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Loại phòng • Phương tiện</a:t>
            </a:r>
          </a:p>
        </p:txBody>
      </p:sp>
    </p:spTree>
    <p:extLst>
      <p:ext uri="{BB962C8B-B14F-4D97-AF65-F5344CB8AC3E}">
        <p14:creationId xmlns:p14="http://schemas.microsoft.com/office/powerpoint/2010/main" val="3125554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4FEEBE-089D-4EF8-A883-DFD2D469A09B}"/>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BA75DABC-5C2B-4533-96B5-67AC10A10EF1}"/>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89583"/>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Nhóm chỉ sửa lỗi suy ra chắc chắn, còn dữ liệu thiếu hoặc phi lý thì loại</a:t>
            </a:r>
          </a:p>
        </p:txBody>
      </p:sp>
      <p:cxnSp>
        <p:nvCxnSpPr>
          <p:cNvPr id="9"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04F84428-459B-4C0C-B14F-0F2129CE778E}"/>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5</a:t>
            </a:r>
          </a:p>
        </p:txBody>
      </p:sp>
      <p:graphicFrame>
        <p:nvGraphicFramePr>
          <p:cNvPr id="11" name=""/>
          <p:cNvGraphicFramePr/>
          <p:nvPr/>
        </p:nvGraphicFramePr>
        <p:xfrm>
          <a:off xmlns:a="http://schemas.openxmlformats.org/drawingml/2006/main" x="400050" y="1714500"/>
          <a:ext xmlns:a="http://schemas.openxmlformats.org/drawingml/2006/main" cx="11391900" cy="4000500"/>
        </p:xfrm>
        <a:graphic xmlns:a="http://schemas.openxmlformats.org/drawingml/2006/main">
          <a:graphicData uri="http://schemas.openxmlformats.org/drawingml/2006/table">
            <a:tbl>
              <a:tblPr/>
              <a:tblGrid>
                <a:gridCol w="2381250"/>
                <a:gridCol w="2762250"/>
                <a:gridCol w="2476500"/>
                <a:gridCol w="3771900"/>
              </a:tblGrid>
              <a:tr h="571500">
                <a:tc>
                  <a:txBody>
                    <a:bodyPr/>
                    <a:lstStyle/>
                    <a:p>
                      <a:r>
                        <a:rPr sz="1275" b="1">
                          <a:solidFill>
                            <a:srgbClr val="FFFFFF"/>
                          </a:solidFill>
                        </a:rPr>
                        <a:t>Nhóm lỗi</a:t>
                      </a:r>
                    </a:p>
                  </a:txBody>
                  <a:tcPr marL="91440" marR="91440" marT="45720" marB="45720" anchor="ctr">
                    <a:solidFill>
                      <a:srgbClr val="000000"/>
                    </a:solidFill>
                  </a:tcPr>
                </a:tc>
                <a:tc>
                  <a:txBody>
                    <a:bodyPr/>
                    <a:lstStyle/>
                    <a:p>
                      <a:r>
                        <a:rPr sz="1275" b="1">
                          <a:solidFill>
                            <a:srgbClr val="FFFFFF"/>
                          </a:solidFill>
                        </a:rPr>
                        <a:t>Ví dụ</a:t>
                      </a:r>
                    </a:p>
                  </a:txBody>
                  <a:tcPr marL="91440" marR="91440" marT="45720" marB="45720" anchor="ctr">
                    <a:solidFill>
                      <a:srgbClr val="000000"/>
                    </a:solidFill>
                  </a:tcPr>
                </a:tc>
                <a:tc>
                  <a:txBody>
                    <a:bodyPr/>
                    <a:lstStyle/>
                    <a:p>
                      <a:r>
                        <a:rPr sz="1275" b="1">
                          <a:solidFill>
                            <a:srgbClr val="FFFFFF"/>
                          </a:solidFill>
                        </a:rPr>
                        <a:t>Xử lý</a:t>
                      </a:r>
                    </a:p>
                  </a:txBody>
                  <a:tcPr marL="91440" marR="91440" marT="45720" marB="45720" anchor="ctr">
                    <a:solidFill>
                      <a:srgbClr val="000000"/>
                    </a:solidFill>
                  </a:tcPr>
                </a:tc>
                <a:tc>
                  <a:txBody>
                    <a:bodyPr/>
                    <a:lstStyle/>
                    <a:p>
                      <a:r>
                        <a:rPr sz="1275" b="1">
                          <a:solidFill>
                            <a:srgbClr val="FFFFFF"/>
                          </a:solidFill>
                        </a:rPr>
                        <a:t>Nguyên tắc</a:t>
                      </a:r>
                    </a:p>
                  </a:txBody>
                  <a:tcPr marL="91440" marR="91440" marT="45720" marB="45720" anchor="ctr">
                    <a:solidFill>
                      <a:srgbClr val="000000"/>
                    </a:solidFill>
                  </a:tcPr>
                </a:tc>
              </a:tr>
              <a:tr h="571500">
                <a:tc>
                  <a:txBody>
                    <a:bodyPr/>
                    <a:lstStyle/>
                    <a:p>
                      <a:r>
                        <a:rPr sz="1200">
                          <a:solidFill>
                            <a:srgbClr val="000000"/>
                          </a:solidFill>
                        </a:rPr>
                        <a:t>Định dạng</a:t>
                      </a:r>
                    </a:p>
                  </a:txBody>
                  <a:tcPr marL="91440" marR="91440" marT="45720" marB="45720" anchor="ctr"/>
                </a:tc>
                <a:tc>
                  <a:txBody>
                    <a:bodyPr/>
                    <a:lstStyle/>
                    <a:p>
                      <a:r>
                        <a:rPr sz="1200">
                          <a:solidFill>
                            <a:srgbClr val="000000"/>
                          </a:solidFill>
                        </a:rPr>
                        <a:t>2,5; 3km</a:t>
                      </a:r>
                    </a:p>
                  </a:txBody>
                  <a:tcPr marL="91440" marR="91440" marT="45720" marB="45720" anchor="ctr"/>
                </a:tc>
                <a:tc>
                  <a:txBody>
                    <a:bodyPr/>
                    <a:lstStyle/>
                    <a:p>
                      <a:r>
                        <a:rPr sz="1200">
                          <a:solidFill>
                            <a:srgbClr val="000000"/>
                          </a:solidFill>
                        </a:rPr>
                        <a:t>Chuẩn hóa về số</a:t>
                      </a:r>
                    </a:p>
                  </a:txBody>
                  <a:tcPr marL="91440" marR="91440" marT="45720" marB="45720" anchor="ctr"/>
                </a:tc>
                <a:tc>
                  <a:txBody>
                    <a:bodyPr/>
                    <a:lstStyle/>
                    <a:p>
                      <a:r>
                        <a:rPr sz="1200">
                          <a:solidFill>
                            <a:srgbClr val="000000"/>
                          </a:solidFill>
                        </a:rPr>
                        <a:t>Giữ thông tin</a:t>
                      </a:r>
                    </a:p>
                  </a:txBody>
                  <a:tcPr marL="91440" marR="91440" marT="45720" marB="45720" anchor="ctr"/>
                </a:tc>
              </a:tr>
              <a:tr h="571500">
                <a:tc>
                  <a:txBody>
                    <a:bodyPr/>
                    <a:lstStyle/>
                    <a:p>
                      <a:r>
                        <a:rPr sz="1200">
                          <a:solidFill>
                            <a:srgbClr val="000000"/>
                          </a:solidFill>
                        </a:rPr>
                        <a:t>Danh mục</a:t>
                      </a:r>
                    </a:p>
                  </a:txBody>
                  <a:tcPr marL="91440" marR="91440" marT="45720" marB="45720" anchor="ctr"/>
                </a:tc>
                <a:tc>
                  <a:txBody>
                    <a:bodyPr/>
                    <a:lstStyle/>
                    <a:p>
                      <a:r>
                        <a:rPr sz="1200">
                          <a:solidFill>
                            <a:srgbClr val="000000"/>
                          </a:solidFill>
                        </a:rPr>
                        <a:t> xe máy ; NAM</a:t>
                      </a:r>
                    </a:p>
                  </a:txBody>
                  <a:tcPr marL="91440" marR="91440" marT="45720" marB="45720" anchor="ctr"/>
                </a:tc>
                <a:tc>
                  <a:txBody>
                    <a:bodyPr/>
                    <a:lstStyle/>
                    <a:p>
                      <a:r>
                        <a:rPr sz="1200">
                          <a:solidFill>
                            <a:srgbClr val="000000"/>
                          </a:solidFill>
                        </a:rPr>
                        <a:t>Chuẩn hóa</a:t>
                      </a:r>
                    </a:p>
                  </a:txBody>
                  <a:tcPr marL="91440" marR="91440" marT="45720" marB="45720" anchor="ctr"/>
                </a:tc>
                <a:tc>
                  <a:txBody>
                    <a:bodyPr/>
                    <a:lstStyle/>
                    <a:p>
                      <a:r>
                        <a:rPr sz="1200">
                          <a:solidFill>
                            <a:srgbClr val="000000"/>
                          </a:solidFill>
                        </a:rPr>
                        <a:t>Không làm mất dữ liệu</a:t>
                      </a:r>
                    </a:p>
                  </a:txBody>
                  <a:tcPr marL="91440" marR="91440" marT="45720" marB="45720" anchor="ctr"/>
                </a:tc>
              </a:tr>
              <a:tr h="571500">
                <a:tc>
                  <a:txBody>
                    <a:bodyPr/>
                    <a:lstStyle/>
                    <a:p>
                      <a:r>
                        <a:rPr sz="1200">
                          <a:solidFill>
                            <a:srgbClr val="000000"/>
                          </a:solidFill>
                        </a:rPr>
                        <a:t>Mã SV</a:t>
                      </a:r>
                    </a:p>
                  </a:txBody>
                  <a:tcPr marL="91440" marR="91440" marT="45720" marB="45720" anchor="ctr"/>
                </a:tc>
                <a:tc>
                  <a:txBody>
                    <a:bodyPr/>
                    <a:lstStyle/>
                    <a:p>
                      <a:r>
                        <a:rPr sz="1200">
                          <a:solidFill>
                            <a:srgbClr val="000000"/>
                          </a:solidFill>
                        </a:rPr>
                        <a:t>HE-185306</a:t>
                      </a:r>
                    </a:p>
                  </a:txBody>
                  <a:tcPr marL="91440" marR="91440" marT="45720" marB="45720" anchor="ctr"/>
                </a:tc>
                <a:tc>
                  <a:txBody>
                    <a:bodyPr/>
                    <a:lstStyle/>
                    <a:p>
                      <a:r>
                        <a:rPr sz="1200">
                          <a:solidFill>
                            <a:srgbClr val="000000"/>
                          </a:solidFill>
                        </a:rPr>
                        <a:t>Bỏ ký tự thừa</a:t>
                      </a:r>
                    </a:p>
                  </a:txBody>
                  <a:tcPr marL="91440" marR="91440" marT="45720" marB="45720" anchor="ctr"/>
                </a:tc>
                <a:tc>
                  <a:txBody>
                    <a:bodyPr/>
                    <a:lstStyle/>
                    <a:p>
                      <a:r>
                        <a:rPr sz="1200">
                          <a:solidFill>
                            <a:srgbClr val="000000"/>
                          </a:solidFill>
                        </a:rPr>
                        <a:t>Phải còn đúng cấu trúc</a:t>
                      </a:r>
                    </a:p>
                  </a:txBody>
                  <a:tcPr marL="91440" marR="91440" marT="45720" marB="45720" anchor="ctr"/>
                </a:tc>
              </a:tr>
              <a:tr h="571500">
                <a:tc>
                  <a:txBody>
                    <a:bodyPr/>
                    <a:lstStyle/>
                    <a:p>
                      <a:r>
                        <a:rPr sz="1200">
                          <a:solidFill>
                            <a:srgbClr val="000000"/>
                          </a:solidFill>
                        </a:rPr>
                        <a:t>Thiếu</a:t>
                      </a:r>
                    </a:p>
                  </a:txBody>
                  <a:tcPr marL="91440" marR="91440" marT="45720" marB="45720" anchor="ctr"/>
                </a:tc>
                <a:tc>
                  <a:txBody>
                    <a:bodyPr/>
                    <a:lstStyle/>
                    <a:p>
                      <a:r>
                        <a:rPr sz="1200">
                          <a:solidFill>
                            <a:srgbClr val="000000"/>
                          </a:solidFill>
                        </a:rPr>
                        <a:t>Trống trường bắt buộc</a:t>
                      </a:r>
                    </a:p>
                  </a:txBody>
                  <a:tcPr marL="91440" marR="91440" marT="45720" marB="45720" anchor="ctr"/>
                </a:tc>
                <a:tc>
                  <a:txBody>
                    <a:bodyPr/>
                    <a:lstStyle/>
                    <a:p>
                      <a:r>
                        <a:rPr sz="1200">
                          <a:solidFill>
                            <a:srgbClr val="000000"/>
                          </a:solidFill>
                        </a:rPr>
                        <a:t>Loại dòng</a:t>
                      </a:r>
                    </a:p>
                  </a:txBody>
                  <a:tcPr marL="91440" marR="91440" marT="45720" marB="45720" anchor="ctr"/>
                </a:tc>
                <a:tc>
                  <a:txBody>
                    <a:bodyPr/>
                    <a:lstStyle/>
                    <a:p>
                      <a:r>
                        <a:rPr sz="1200">
                          <a:solidFill>
                            <a:srgbClr val="000000"/>
                          </a:solidFill>
                        </a:rPr>
                        <a:t>Không tự điền</a:t>
                      </a:r>
                    </a:p>
                  </a:txBody>
                  <a:tcPr marL="91440" marR="91440" marT="45720" marB="45720" anchor="ctr"/>
                </a:tc>
              </a:tr>
              <a:tr h="571500">
                <a:tc>
                  <a:txBody>
                    <a:bodyPr/>
                    <a:lstStyle/>
                    <a:p>
                      <a:r>
                        <a:rPr sz="1200">
                          <a:solidFill>
                            <a:srgbClr val="000000"/>
                          </a:solidFill>
                        </a:rPr>
                        <a:t>Phi lý</a:t>
                      </a:r>
                    </a:p>
                  </a:txBody>
                  <a:tcPr marL="91440" marR="91440" marT="45720" marB="45720" anchor="ctr"/>
                </a:tc>
                <a:tc>
                  <a:txBody>
                    <a:bodyPr/>
                    <a:lstStyle/>
                    <a:p>
                      <a:r>
                        <a:rPr sz="1200">
                          <a:solidFill>
                            <a:srgbClr val="000000"/>
                          </a:solidFill>
                        </a:rPr>
                        <a:t>X âm; Y=0</a:t>
                      </a:r>
                    </a:p>
                  </a:txBody>
                  <a:tcPr marL="91440" marR="91440" marT="45720" marB="45720" anchor="ctr"/>
                </a:tc>
                <a:tc>
                  <a:txBody>
                    <a:bodyPr/>
                    <a:lstStyle/>
                    <a:p>
                      <a:r>
                        <a:rPr sz="1200">
                          <a:solidFill>
                            <a:srgbClr val="000000"/>
                          </a:solidFill>
                        </a:rPr>
                        <a:t>Loại dòng</a:t>
                      </a:r>
                    </a:p>
                  </a:txBody>
                  <a:tcPr marL="91440" marR="91440" marT="45720" marB="45720" anchor="ctr"/>
                </a:tc>
                <a:tc>
                  <a:txBody>
                    <a:bodyPr/>
                    <a:lstStyle/>
                    <a:p>
                      <a:r>
                        <a:rPr sz="1200">
                          <a:solidFill>
                            <a:srgbClr val="000000"/>
                          </a:solidFill>
                        </a:rPr>
                        <a:t>Ngoài phạm vi</a:t>
                      </a:r>
                    </a:p>
                  </a:txBody>
                  <a:tcPr marL="91440" marR="91440" marT="45720" marB="45720" anchor="ctr"/>
                </a:tc>
              </a:tr>
              <a:tr h="571500">
                <a:tc>
                  <a:txBody>
                    <a:bodyPr/>
                    <a:lstStyle/>
                    <a:p>
                      <a:r>
                        <a:rPr sz="1200">
                          <a:solidFill>
                            <a:srgbClr val="000000"/>
                          </a:solidFill>
                        </a:rPr>
                        <a:t>Trùng</a:t>
                      </a:r>
                    </a:p>
                  </a:txBody>
                  <a:tcPr marL="91440" marR="91440" marT="45720" marB="45720" anchor="ctr"/>
                </a:tc>
                <a:tc>
                  <a:txBody>
                    <a:bodyPr/>
                    <a:lstStyle/>
                    <a:p>
                      <a:r>
                        <a:rPr sz="1200">
                          <a:solidFill>
                            <a:srgbClr val="000000"/>
                          </a:solidFill>
                        </a:rPr>
                        <a:t>Cùng Ma_SV</a:t>
                      </a:r>
                    </a:p>
                  </a:txBody>
                  <a:tcPr marL="91440" marR="91440" marT="45720" marB="45720" anchor="ctr"/>
                </a:tc>
                <a:tc>
                  <a:txBody>
                    <a:bodyPr/>
                    <a:lstStyle/>
                    <a:p>
                      <a:r>
                        <a:rPr sz="1200">
                          <a:solidFill>
                            <a:srgbClr val="000000"/>
                          </a:solidFill>
                        </a:rPr>
                        <a:t>Giữ một dòng</a:t>
                      </a:r>
                    </a:p>
                  </a:txBody>
                  <a:tcPr marL="91440" marR="91440" marT="45720" marB="45720" anchor="ctr"/>
                </a:tc>
                <a:tc>
                  <a:txBody>
                    <a:bodyPr/>
                    <a:lstStyle/>
                    <a:p>
                      <a:r>
                        <a:rPr sz="1200">
                          <a:solidFill>
                            <a:srgbClr val="000000"/>
                          </a:solidFill>
                        </a:rPr>
                        <a:t>Tránh đếm lặp</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071CA634-E27B-47A4-9AE4-E076FC5A0F77}"/>
              </a:ext>
            </a:extLst>
          </p:cNvPr>
          <p:cNvSpPr>
            <a:spLocks xmlns:a="http://schemas.openxmlformats.org/drawingml/2006/main" noGrp="1"/>
          </p:cNvSpPr>
          <p:nvPr/>
        </p:nvSpPr>
        <p:spPr>
          <a:xfrm xmlns:a="http://schemas.openxmlformats.org/drawingml/2006/main">
            <a:off x="400050" y="5857875"/>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238636"/>
                </a:solidFill>
                <a:latin typeface="Helvetica Neue"/>
                <a:ea typeface="Helvetica Neue"/>
                <a:cs typeface="Helvetica Neue"/>
              </a:defRPr>
            </a:pPr>
            <a:r>
              <a:rPr sz="1500" b="1">
                <a:solidFill>
                  <a:srgbClr val="238636"/>
                </a:solidFill>
                <a:latin typeface="Helvetica Neue"/>
                <a:ea typeface="Helvetica Neue"/>
                <a:cs typeface="Helvetica Neue"/>
              </a:rPr>
              <a:t>Kết quả cuối: data_clean_sample.csv đạt toàn bộ điều kiện kiểm tra.</a:t>
            </a:r>
          </a:p>
        </p:txBody>
      </p:sp>
    </p:spTree>
    <p:extLst>
      <p:ext uri="{BB962C8B-B14F-4D97-AF65-F5344CB8AC3E}">
        <p14:creationId xmlns:p14="http://schemas.microsoft.com/office/powerpoint/2010/main" val="8443604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9AABA07-890B-419B-87D3-AEDD54BFF84F}"/>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4047478F-6E8C-46C6-AD8D-319F0524DE8A}"/>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93056"/>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Gộp KTX làm hệ số đổi dấu, nên mẫu hồi quy chỉ dùng 59 trọ ngoài</a:t>
            </a:r>
          </a:p>
        </p:txBody>
      </p:sp>
      <p:cxnSp>
        <p:nvCxnSpPr>
          <p:cNvPr id="16"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071AA666-3B44-43D2-92A6-1AEDB62C3878}"/>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6</a:t>
            </a:r>
          </a:p>
        </p:txBody>
      </p:sp>
      <p:sp>
        <p:nvSpPr>
          <p:cNvPr id="5" name="">
            <a:extLst xmlns:a="http://schemas.openxmlformats.org/drawingml/2006/main">
              <a:ext uri="{FF2B5EF4-FFF2-40B4-BE49-F238E27FC236}">
                <a16:creationId xmlns:a16="http://schemas.microsoft.com/office/drawing/2014/main" id="{9D17DC91-A40C-4483-9E8F-3395980F6378}"/>
              </a:ext>
            </a:extLst>
          </p:cNvPr>
          <p:cNvSpPr>
            <a:spLocks xmlns:a="http://schemas.openxmlformats.org/drawingml/2006/main" noGrp="1"/>
          </p:cNvSpPr>
          <p:nvPr/>
        </p:nvSpPr>
        <p:spPr>
          <a:xfrm xmlns:a="http://schemas.openxmlformats.org/drawingml/2006/main">
            <a:off x="400050" y="1809750"/>
            <a:ext cx="5238750" cy="3381375"/>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AD1AA5-D833-4338-A8E0-756A81F905E1}"/>
              </a:ext>
            </a:extLst>
          </p:cNvPr>
          <p:cNvSpPr>
            <a:spLocks xmlns:a="http://schemas.openxmlformats.org/drawingml/2006/main" noGrp="1"/>
          </p:cNvSpPr>
          <p:nvPr/>
        </p:nvSpPr>
        <p:spPr>
          <a:xfrm xmlns:a="http://schemas.openxmlformats.org/drawingml/2006/main">
            <a:off x="685800" y="2143125"/>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Gộp cả 76 quan sát</a:t>
            </a:r>
          </a:p>
        </p:txBody>
      </p:sp>
      <p:sp>
        <p:nvSpPr>
          <p:cNvPr id="7" name="">
            <a:extLst xmlns:a="http://schemas.openxmlformats.org/drawingml/2006/main">
              <a:ext uri="{FF2B5EF4-FFF2-40B4-BE49-F238E27FC236}">
                <a16:creationId xmlns:a16="http://schemas.microsoft.com/office/drawing/2014/main" id="{1591ED6E-2540-4E1C-936F-0FDD0C24429C}"/>
              </a:ext>
            </a:extLst>
          </p:cNvPr>
          <p:cNvSpPr>
            <a:spLocks xmlns:a="http://schemas.openxmlformats.org/drawingml/2006/main" noGrp="1"/>
          </p:cNvSpPr>
          <p:nvPr/>
        </p:nvSpPr>
        <p:spPr>
          <a:xfrm xmlns:a="http://schemas.openxmlformats.org/drawingml/2006/main">
            <a:off x="685800" y="2857500"/>
            <a:ext cx="4476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C62828"/>
                </a:solidFill>
                <a:latin typeface="Helvetica Neue"/>
                <a:ea typeface="Helvetica Neue"/>
                <a:cs typeface="Helvetica Neue"/>
              </a:defRPr>
            </a:pPr>
            <a:r>
              <a:rPr sz="2775" b="1">
                <a:solidFill>
                  <a:srgbClr val="C62828"/>
                </a:solidFill>
                <a:latin typeface="Helvetica Neue"/>
                <a:ea typeface="Helvetica Neue"/>
                <a:cs typeface="Helvetica Neue"/>
              </a:rPr>
              <a:t>β̂1 = +0.0565</a:t>
            </a:r>
          </a:p>
          <a:p xmlns:a="http://schemas.openxmlformats.org/drawingml/2006/main">
            <a:pPr algn="l">
              <a:defRPr sz="2775" b="1">
                <a:solidFill>
                  <a:srgbClr val="C62828"/>
                </a:solidFill>
                <a:latin typeface="Helvetica Neue"/>
                <a:ea typeface="Helvetica Neue"/>
                <a:cs typeface="Helvetica Neue"/>
              </a:defRPr>
            </a:pPr>
            <a:r>
              <a:rPr sz="2775" b="1">
                <a:solidFill>
                  <a:srgbClr val="C62828"/>
                </a:solidFill>
                <a:latin typeface="Helvetica Neue"/>
                <a:ea typeface="Helvetica Neue"/>
                <a:cs typeface="Helvetica Neue"/>
              </a:rPr>
              <a:t>R² = 6.03%</a:t>
            </a:r>
          </a:p>
        </p:txBody>
      </p:sp>
      <p:sp>
        <p:nvSpPr>
          <p:cNvPr id="8" name="">
            <a:extLst xmlns:a="http://schemas.openxmlformats.org/drawingml/2006/main">
              <a:ext uri="{FF2B5EF4-FFF2-40B4-BE49-F238E27FC236}">
                <a16:creationId xmlns:a16="http://schemas.microsoft.com/office/drawing/2014/main" id="{1F01C6CA-8F26-4A17-9311-1231BFFEFC17}"/>
              </a:ext>
            </a:extLst>
          </p:cNvPr>
          <p:cNvSpPr>
            <a:spLocks xmlns:a="http://schemas.openxmlformats.org/drawingml/2006/main" noGrp="1"/>
          </p:cNvSpPr>
          <p:nvPr/>
        </p:nvSpPr>
        <p:spPr>
          <a:xfrm xmlns:a="http://schemas.openxmlformats.org/drawingml/2006/main">
            <a:off x="685800" y="4238625"/>
            <a:ext cx="4381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KTX rất gần trường nhưng giá do nhà trường quy định.</a:t>
            </a:r>
          </a:p>
        </p:txBody>
      </p:sp>
      <p:sp>
        <p:nvSpPr>
          <p:cNvPr id="9" name="">
            <a:extLst xmlns:a="http://schemas.openxmlformats.org/drawingml/2006/main">
              <a:ext uri="{FF2B5EF4-FFF2-40B4-BE49-F238E27FC236}">
                <a16:creationId xmlns:a16="http://schemas.microsoft.com/office/drawing/2014/main" id="{B5C64155-E76C-47B9-9B55-27E8799520F0}"/>
              </a:ext>
            </a:extLst>
          </p:cNvPr>
          <p:cNvSpPr>
            <a:spLocks xmlns:a="http://schemas.openxmlformats.org/drawingml/2006/main" noGrp="1"/>
          </p:cNvSpPr>
          <p:nvPr/>
        </p:nvSpPr>
        <p:spPr>
          <a:xfrm xmlns:a="http://schemas.openxmlformats.org/drawingml/2006/main">
            <a:off x="6153150" y="1809750"/>
            <a:ext cx="5638800" cy="3381375"/>
          </a:xfrm>
          <a:prstGeom xmlns:a="http://schemas.openxmlformats.org/drawingml/2006/main" prst="rect">
            <a:avLst/>
          </a:prstGeom>
          <a:solidFill xmlns:a="http://schemas.openxmlformats.org/drawingml/2006/main">
            <a:srgbClr val="E9F7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A4E14C-09B1-4D83-9BD2-13EBC407B9BD}"/>
              </a:ext>
            </a:extLst>
          </p:cNvPr>
          <p:cNvSpPr>
            <a:spLocks xmlns:a="http://schemas.openxmlformats.org/drawingml/2006/main" noGrp="1"/>
          </p:cNvSpPr>
          <p:nvPr/>
        </p:nvSpPr>
        <p:spPr>
          <a:xfrm xmlns:a="http://schemas.openxmlformats.org/drawingml/2006/main">
            <a:off x="6457950" y="21431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Chỉ 59 trọ ngoài KTX</a:t>
            </a:r>
          </a:p>
        </p:txBody>
      </p:sp>
      <p:sp>
        <p:nvSpPr>
          <p:cNvPr id="11" name="">
            <a:extLst xmlns:a="http://schemas.openxmlformats.org/drawingml/2006/main">
              <a:ext uri="{FF2B5EF4-FFF2-40B4-BE49-F238E27FC236}">
                <a16:creationId xmlns:a16="http://schemas.microsoft.com/office/drawing/2014/main" id="{C1E47C24-DD29-41E3-9A84-85A6E04842EE}"/>
              </a:ext>
            </a:extLst>
          </p:cNvPr>
          <p:cNvSpPr>
            <a:spLocks xmlns:a="http://schemas.openxmlformats.org/drawingml/2006/main" noGrp="1"/>
          </p:cNvSpPr>
          <p:nvPr/>
        </p:nvSpPr>
        <p:spPr>
          <a:xfrm xmlns:a="http://schemas.openxmlformats.org/drawingml/2006/main">
            <a:off x="6457950" y="2857500"/>
            <a:ext cx="4857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238636"/>
                </a:solidFill>
                <a:latin typeface="Helvetica Neue"/>
                <a:ea typeface="Helvetica Neue"/>
                <a:cs typeface="Helvetica Neue"/>
              </a:defRPr>
            </a:pPr>
            <a:r>
              <a:rPr sz="2775" b="1">
                <a:solidFill>
                  <a:srgbClr val="238636"/>
                </a:solidFill>
                <a:latin typeface="Helvetica Neue"/>
                <a:ea typeface="Helvetica Neue"/>
                <a:cs typeface="Helvetica Neue"/>
              </a:rPr>
              <a:t>β̂1 = -0.1457</a:t>
            </a:r>
          </a:p>
          <a:p xmlns:a="http://schemas.openxmlformats.org/drawingml/2006/main">
            <a:pPr algn="l">
              <a:defRPr sz="2775" b="1">
                <a:solidFill>
                  <a:srgbClr val="238636"/>
                </a:solidFill>
                <a:latin typeface="Helvetica Neue"/>
                <a:ea typeface="Helvetica Neue"/>
                <a:cs typeface="Helvetica Neue"/>
              </a:defRPr>
            </a:pPr>
            <a:r>
              <a:rPr sz="2775" b="1">
                <a:solidFill>
                  <a:srgbClr val="238636"/>
                </a:solidFill>
                <a:latin typeface="Helvetica Neue"/>
                <a:ea typeface="Helvetica Neue"/>
                <a:cs typeface="Helvetica Neue"/>
              </a:rPr>
              <a:t>R² = 45.80%</a:t>
            </a:r>
          </a:p>
        </p:txBody>
      </p:sp>
      <p:sp>
        <p:nvSpPr>
          <p:cNvPr id="12" name="">
            <a:extLst xmlns:a="http://schemas.openxmlformats.org/drawingml/2006/main">
              <a:ext uri="{FF2B5EF4-FFF2-40B4-BE49-F238E27FC236}">
                <a16:creationId xmlns:a16="http://schemas.microsoft.com/office/drawing/2014/main" id="{2BB02864-EE86-4B94-BE6D-A0E8328AE168}"/>
              </a:ext>
            </a:extLst>
          </p:cNvPr>
          <p:cNvSpPr>
            <a:spLocks xmlns:a="http://schemas.openxmlformats.org/drawingml/2006/main" noGrp="1"/>
          </p:cNvSpPr>
          <p:nvPr/>
        </p:nvSpPr>
        <p:spPr>
          <a:xfrm xmlns:a="http://schemas.openxmlformats.org/drawingml/2006/main">
            <a:off x="6457950" y="42386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Mẫu phù hợp với câu hỏi về giá thuê thị trường.</a:t>
            </a:r>
          </a:p>
        </p:txBody>
      </p:sp>
      <p:sp>
        <p:nvSpPr>
          <p:cNvPr id="13" name="">
            <a:extLst xmlns:a="http://schemas.openxmlformats.org/drawingml/2006/main">
              <a:ext uri="{FF2B5EF4-FFF2-40B4-BE49-F238E27FC236}">
                <a16:creationId xmlns:a16="http://schemas.microsoft.com/office/drawing/2014/main" id="{088E8CE5-0A91-4E35-85A0-FD6E9F8CDE9C}"/>
              </a:ext>
            </a:extLst>
          </p:cNvPr>
          <p:cNvSpPr>
            <a:spLocks xmlns:a="http://schemas.openxmlformats.org/drawingml/2006/main" noGrp="1"/>
          </p:cNvSpPr>
          <p:nvPr/>
        </p:nvSpPr>
        <p:spPr>
          <a:xfrm xmlns:a="http://schemas.openxmlformats.org/drawingml/2006/main">
            <a:off x="400050" y="56197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17 dòng KTX vẫn được giữ để mô tả — không bị xóa khỏi dữ liệu sạch.</a:t>
            </a:r>
          </a:p>
        </p:txBody>
      </p:sp>
    </p:spTree>
    <p:extLst>
      <p:ext uri="{BB962C8B-B14F-4D97-AF65-F5344CB8AC3E}">
        <p14:creationId xmlns:p14="http://schemas.microsoft.com/office/powerpoint/2010/main" val="2147659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18053A-8CC3-408D-846E-2D5986C7D14E}"/>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3263FDF4-1DFA-4466-8882-7E16C44BBF88}"/>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Khu vực xa hơn có giá thuê trung bình thấp hơn</a:t>
            </a:r>
          </a:p>
        </p:txBody>
      </p:sp>
      <p:cxnSp>
        <p:nvCxnSpPr>
          <p:cNvPr id="14"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36A712B7-C4F0-4D7F-BD33-A4BE08C0BA0E}"/>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7</a:t>
            </a:r>
          </a:p>
        </p:txBody>
      </p:sp>
      <p:graphicFrame>
        <p:nvGraphicFramePr>
          <p:cNvPr id="16" name="Chart"/>
          <p:cNvGraphicFramePr/>
          <p:nvPr/>
        </p:nvGraphicFramePr>
        <p:xfrm>
          <a:off xmlns:a="http://schemas.openxmlformats.org/drawingml/2006/main" x="400050" y="1666875"/>
          <a:ext xmlns:a="http://schemas.openxmlformats.org/drawingml/2006/main" cx="6286500" cy="4000500"/>
        </p:xfrm>
        <a:graphic xmlns:a="http://schemas.openxmlformats.org/drawingml/2006/main">
          <a:graphicData uri="http://schemas.openxmlformats.org/drawingml/2006/chart">
            <c:chart xmlns:r="http://schemas.openxmlformats.org/officeDocument/2006/relationships" xmlns:c="http://schemas.openxmlformats.org/drawingml/2006/chart" r:id="Rcac7b6c384664dc5"/>
          </a:graphicData>
        </a:graphic>
      </p:graphicFrame>
      <p:sp>
        <p:nvSpPr>
          <p:cNvPr id="6" name="">
            <a:extLst xmlns:a="http://schemas.openxmlformats.org/drawingml/2006/main">
              <a:ext uri="{FF2B5EF4-FFF2-40B4-BE49-F238E27FC236}">
                <a16:creationId xmlns:a16="http://schemas.microsoft.com/office/drawing/2014/main" id="{1386A29C-7A21-49D4-9A7C-1BB32F10478A}"/>
              </a:ext>
            </a:extLst>
          </p:cNvPr>
          <p:cNvSpPr>
            <a:spLocks xmlns:a="http://schemas.openxmlformats.org/drawingml/2006/main" noGrp="1"/>
          </p:cNvSpPr>
          <p:nvPr/>
        </p:nvSpPr>
        <p:spPr>
          <a:xfrm xmlns:a="http://schemas.openxmlformats.org/drawingml/2006/main">
            <a:off x="7239000" y="20002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Tân Xã</a:t>
            </a:r>
          </a:p>
        </p:txBody>
      </p:sp>
      <p:sp>
        <p:nvSpPr>
          <p:cNvPr id="7" name="">
            <a:extLst xmlns:a="http://schemas.openxmlformats.org/drawingml/2006/main">
              <a:ext uri="{FF2B5EF4-FFF2-40B4-BE49-F238E27FC236}">
                <a16:creationId xmlns:a16="http://schemas.microsoft.com/office/drawing/2014/main" id="{DD4BE28C-A2CA-4ACE-94C0-8BB40C39F9CD}"/>
              </a:ext>
            </a:extLst>
          </p:cNvPr>
          <p:cNvSpPr>
            <a:spLocks xmlns:a="http://schemas.openxmlformats.org/drawingml/2006/main" noGrp="1"/>
          </p:cNvSpPr>
          <p:nvPr/>
        </p:nvSpPr>
        <p:spPr>
          <a:xfrm xmlns:a="http://schemas.openxmlformats.org/drawingml/2006/main">
            <a:off x="7239000" y="2428875"/>
            <a:ext cx="3810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x̄ = 2,81 km</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ȳ = 2,18 triệu</a:t>
            </a:r>
          </a:p>
        </p:txBody>
      </p:sp>
      <p:sp>
        <p:nvSpPr>
          <p:cNvPr id="8" name="">
            <a:extLst xmlns:a="http://schemas.openxmlformats.org/drawingml/2006/main">
              <a:ext uri="{FF2B5EF4-FFF2-40B4-BE49-F238E27FC236}">
                <a16:creationId xmlns:a16="http://schemas.microsoft.com/office/drawing/2014/main" id="{67A01C02-102B-434C-9DA6-E3AD844042D0}"/>
              </a:ext>
            </a:extLst>
          </p:cNvPr>
          <p:cNvSpPr>
            <a:spLocks xmlns:a="http://schemas.openxmlformats.org/drawingml/2006/main" noGrp="1"/>
          </p:cNvSpPr>
          <p:nvPr/>
        </p:nvSpPr>
        <p:spPr>
          <a:xfrm xmlns:a="http://schemas.openxmlformats.org/drawingml/2006/main">
            <a:off x="7239000" y="34290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Thạch Hòa</a:t>
            </a:r>
          </a:p>
        </p:txBody>
      </p:sp>
      <p:sp>
        <p:nvSpPr>
          <p:cNvPr id="9" name="">
            <a:extLst xmlns:a="http://schemas.openxmlformats.org/drawingml/2006/main">
              <a:ext uri="{FF2B5EF4-FFF2-40B4-BE49-F238E27FC236}">
                <a16:creationId xmlns:a16="http://schemas.microsoft.com/office/drawing/2014/main" id="{E4488F2C-9720-403E-8612-E908F4E0F0BA}"/>
              </a:ext>
            </a:extLst>
          </p:cNvPr>
          <p:cNvSpPr>
            <a:spLocks xmlns:a="http://schemas.openxmlformats.org/drawingml/2006/main" noGrp="1"/>
          </p:cNvSpPr>
          <p:nvPr/>
        </p:nvSpPr>
        <p:spPr>
          <a:xfrm xmlns:a="http://schemas.openxmlformats.org/drawingml/2006/main">
            <a:off x="7239000" y="3857625"/>
            <a:ext cx="3810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x̄ = 3,61 km</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ȳ = 2,23 triệu</a:t>
            </a:r>
          </a:p>
        </p:txBody>
      </p:sp>
      <p:sp>
        <p:nvSpPr>
          <p:cNvPr id="10" name="">
            <a:extLst xmlns:a="http://schemas.openxmlformats.org/drawingml/2006/main">
              <a:ext uri="{FF2B5EF4-FFF2-40B4-BE49-F238E27FC236}">
                <a16:creationId xmlns:a16="http://schemas.microsoft.com/office/drawing/2014/main" id="{36E93087-A8D4-43F3-9079-8221EDD6B85D}"/>
              </a:ext>
            </a:extLst>
          </p:cNvPr>
          <p:cNvSpPr>
            <a:spLocks xmlns:a="http://schemas.openxmlformats.org/drawingml/2006/main" noGrp="1"/>
          </p:cNvSpPr>
          <p:nvPr/>
        </p:nvSpPr>
        <p:spPr>
          <a:xfrm xmlns:a="http://schemas.openxmlformats.org/drawingml/2006/main">
            <a:off x="7239000" y="4857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Hòa Lạc</a:t>
            </a:r>
          </a:p>
        </p:txBody>
      </p:sp>
      <p:sp>
        <p:nvSpPr>
          <p:cNvPr id="11" name="">
            <a:extLst xmlns:a="http://schemas.openxmlformats.org/drawingml/2006/main">
              <a:ext uri="{FF2B5EF4-FFF2-40B4-BE49-F238E27FC236}">
                <a16:creationId xmlns:a16="http://schemas.microsoft.com/office/drawing/2014/main" id="{840A7FF1-2105-467D-A8BE-D7A951C88921}"/>
              </a:ext>
            </a:extLst>
          </p:cNvPr>
          <p:cNvSpPr>
            <a:spLocks xmlns:a="http://schemas.openxmlformats.org/drawingml/2006/main" noGrp="1"/>
          </p:cNvSpPr>
          <p:nvPr/>
        </p:nvSpPr>
        <p:spPr>
          <a:xfrm xmlns:a="http://schemas.openxmlformats.org/drawingml/2006/main">
            <a:off x="7239000" y="5286375"/>
            <a:ext cx="3810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x̄ = 6,40 km</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ȳ = 1,65 triệu</a:t>
            </a:r>
          </a:p>
        </p:txBody>
      </p:sp>
    </p:spTree>
    <p:extLst>
      <p:ext uri="{BB962C8B-B14F-4D97-AF65-F5344CB8AC3E}">
        <p14:creationId xmlns:p14="http://schemas.microsoft.com/office/powerpoint/2010/main" val="12289853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60A3B2-BD69-4D58-8E6B-855C24D6015F}"/>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33D2B86F-B9A5-4600-8ADE-67544EDBF1F7}"/>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94446"/>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OLS chọn đường thẳng làm tổng bình phương phần dư nhỏ nhất</a:t>
            </a:r>
          </a:p>
        </p:txBody>
      </p:sp>
      <p:cxnSp>
        <p:nvCxnSpPr>
          <p:cNvPr id="15"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ED03DFF7-A287-4B92-AA85-D65BA135D5F4}"/>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8</a:t>
            </a:r>
          </a:p>
        </p:txBody>
      </p:sp>
      <p:sp>
        <p:nvSpPr>
          <p:cNvPr id="5" name="">
            <a:extLst xmlns:a="http://schemas.openxmlformats.org/drawingml/2006/main">
              <a:ext uri="{FF2B5EF4-FFF2-40B4-BE49-F238E27FC236}">
                <a16:creationId xmlns:a16="http://schemas.microsoft.com/office/drawing/2014/main" id="{6B664E89-B35F-4335-86F4-8EA5E8C02293}"/>
              </a:ext>
            </a:extLst>
          </p:cNvPr>
          <p:cNvSpPr>
            <a:spLocks xmlns:a="http://schemas.openxmlformats.org/drawingml/2006/main" noGrp="1"/>
          </p:cNvSpPr>
          <p:nvPr/>
        </p:nvSpPr>
        <p:spPr>
          <a:xfrm xmlns:a="http://schemas.openxmlformats.org/drawingml/2006/main">
            <a:off x="400050" y="1857375"/>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Mô hình tổng thể</a:t>
            </a:r>
          </a:p>
        </p:txBody>
      </p:sp>
      <p:sp>
        <p:nvSpPr>
          <p:cNvPr id="6" name="">
            <a:extLst xmlns:a="http://schemas.openxmlformats.org/drawingml/2006/main">
              <a:ext uri="{FF2B5EF4-FFF2-40B4-BE49-F238E27FC236}">
                <a16:creationId xmlns:a16="http://schemas.microsoft.com/office/drawing/2014/main" id="{6803165B-40A2-4F56-BAF8-550E4654A189}"/>
              </a:ext>
            </a:extLst>
          </p:cNvPr>
          <p:cNvSpPr>
            <a:spLocks xmlns:a="http://schemas.openxmlformats.org/drawingml/2006/main" noGrp="1"/>
          </p:cNvSpPr>
          <p:nvPr/>
        </p:nvSpPr>
        <p:spPr>
          <a:xfrm xmlns:a="http://schemas.openxmlformats.org/drawingml/2006/main">
            <a:off x="400050" y="247650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000000"/>
                </a:solidFill>
                <a:latin typeface="Helvetica Neue"/>
                <a:ea typeface="Helvetica Neue"/>
                <a:cs typeface="Helvetica Neue"/>
              </a:defRPr>
            </a:pPr>
            <a:r>
              <a:rPr sz="3150" b="1">
                <a:solidFill>
                  <a:srgbClr val="000000"/>
                </a:solidFill>
                <a:latin typeface="Helvetica Neue"/>
                <a:ea typeface="Helvetica Neue"/>
                <a:cs typeface="Helvetica Neue"/>
              </a:rPr>
              <a:t>Yi = β0 + β1Xi + εi</a:t>
            </a:r>
          </a:p>
        </p:txBody>
      </p:sp>
      <p:sp>
        <p:nvSpPr>
          <p:cNvPr id="7" name="">
            <a:extLst xmlns:a="http://schemas.openxmlformats.org/drawingml/2006/main">
              <a:ext uri="{FF2B5EF4-FFF2-40B4-BE49-F238E27FC236}">
                <a16:creationId xmlns:a16="http://schemas.microsoft.com/office/drawing/2014/main" id="{576DA4CB-0299-4E67-AAB4-4E921F6AB801}"/>
              </a:ext>
            </a:extLst>
          </p:cNvPr>
          <p:cNvSpPr>
            <a:spLocks xmlns:a="http://schemas.openxmlformats.org/drawingml/2006/main" noGrp="1"/>
          </p:cNvSpPr>
          <p:nvPr/>
        </p:nvSpPr>
        <p:spPr>
          <a:xfrm xmlns:a="http://schemas.openxmlformats.org/drawingml/2006/main">
            <a:off x="400050" y="352425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β0, β1: tham số chưa biết</a:t>
            </a:r>
          </a:p>
          <a:p xmlns:a="http://schemas.openxmlformats.org/drawingml/2006/main">
            <a:pPr algn="l">
              <a:defRPr sz="1650" b="0">
                <a:solidFill>
                  <a:srgbClr val="000000"/>
                </a:solidFill>
                <a:latin typeface="Helvetica Neue"/>
                <a:ea typeface="Helvetica Neue"/>
                <a:cs typeface="Helvetica Neue"/>
              </a:defRPr>
            </a:pPr>
            <a:r>
              <a:rPr sz="1650" b="0">
                <a:solidFill>
                  <a:srgbClr val="000000"/>
                </a:solidFill>
                <a:latin typeface="Helvetica Neue"/>
                <a:ea typeface="Helvetica Neue"/>
                <a:cs typeface="Helvetica Neue"/>
              </a:rPr>
              <a:t>εi: yếu tố khác chưa quan sát</a:t>
            </a:r>
          </a:p>
        </p:txBody>
      </p:sp>
      <p:sp>
        <p:nvSpPr>
          <p:cNvPr id="8" name="">
            <a:extLst xmlns:a="http://schemas.openxmlformats.org/drawingml/2006/main">
              <a:ext uri="{FF2B5EF4-FFF2-40B4-BE49-F238E27FC236}">
                <a16:creationId xmlns:a16="http://schemas.microsoft.com/office/drawing/2014/main" id="{C0EC4AB4-1F3E-4792-AD78-5C2FE248CDB3}"/>
              </a:ext>
            </a:extLst>
          </p:cNvPr>
          <p:cNvSpPr>
            <a:spLocks xmlns:a="http://schemas.openxmlformats.org/drawingml/2006/main" noGrp="1"/>
          </p:cNvSpPr>
          <p:nvPr/>
        </p:nvSpPr>
        <p:spPr>
          <a:xfrm xmlns:a="http://schemas.openxmlformats.org/drawingml/2006/main">
            <a:off x="6191250" y="1809750"/>
            <a:ext cx="5600700" cy="3333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197CE1-4DC4-47A7-9648-A0E703636E05}"/>
              </a:ext>
            </a:extLst>
          </p:cNvPr>
          <p:cNvSpPr>
            <a:spLocks xmlns:a="http://schemas.openxmlformats.org/drawingml/2006/main" noGrp="1"/>
          </p:cNvSpPr>
          <p:nvPr/>
        </p:nvSpPr>
        <p:spPr>
          <a:xfrm xmlns:a="http://schemas.openxmlformats.org/drawingml/2006/main">
            <a:off x="6572250" y="21907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Tiêu chuẩn OLS</a:t>
            </a:r>
          </a:p>
        </p:txBody>
      </p:sp>
      <p:sp>
        <p:nvSpPr>
          <p:cNvPr id="10" name="">
            <a:extLst xmlns:a="http://schemas.openxmlformats.org/drawingml/2006/main">
              <a:ext uri="{FF2B5EF4-FFF2-40B4-BE49-F238E27FC236}">
                <a16:creationId xmlns:a16="http://schemas.microsoft.com/office/drawing/2014/main" id="{306EA2FE-F1BB-45AD-8471-46B0A09587F3}"/>
              </a:ext>
            </a:extLst>
          </p:cNvPr>
          <p:cNvSpPr>
            <a:spLocks xmlns:a="http://schemas.openxmlformats.org/drawingml/2006/main" noGrp="1"/>
          </p:cNvSpPr>
          <p:nvPr/>
        </p:nvSpPr>
        <p:spPr>
          <a:xfrm xmlns:a="http://schemas.openxmlformats.org/drawingml/2006/main">
            <a:off x="6572250" y="3000375"/>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min  Σ ei²</a:t>
            </a:r>
          </a:p>
        </p:txBody>
      </p:sp>
      <p:sp>
        <p:nvSpPr>
          <p:cNvPr id="11" name="">
            <a:extLst xmlns:a="http://schemas.openxmlformats.org/drawingml/2006/main">
              <a:ext uri="{FF2B5EF4-FFF2-40B4-BE49-F238E27FC236}">
                <a16:creationId xmlns:a16="http://schemas.microsoft.com/office/drawing/2014/main" id="{5775A40F-4BC4-45B2-B4F8-7D7F4DAEA8FA}"/>
              </a:ext>
            </a:extLst>
          </p:cNvPr>
          <p:cNvSpPr>
            <a:spLocks xmlns:a="http://schemas.openxmlformats.org/drawingml/2006/main" noGrp="1"/>
          </p:cNvSpPr>
          <p:nvPr/>
        </p:nvSpPr>
        <p:spPr>
          <a:xfrm xmlns:a="http://schemas.openxmlformats.org/drawingml/2006/main">
            <a:off x="6572250" y="4143375"/>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ei = Yi − Ŷi</a:t>
            </a:r>
          </a:p>
          <a:p xmlns:a="http://schemas.openxmlformats.org/drawingml/2006/main">
            <a:pPr algn="l">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Ŷi = β̂0 + β̂1Xi</a:t>
            </a:r>
          </a:p>
        </p:txBody>
      </p:sp>
      <p:sp>
        <p:nvSpPr>
          <p:cNvPr id="12" name="">
            <a:extLst xmlns:a="http://schemas.openxmlformats.org/drawingml/2006/main">
              <a:ext uri="{FF2B5EF4-FFF2-40B4-BE49-F238E27FC236}">
                <a16:creationId xmlns:a16="http://schemas.microsoft.com/office/drawing/2014/main" id="{251A34F0-6D23-4A03-81AC-2BE166C4CB9F}"/>
              </a:ext>
            </a:extLst>
          </p:cNvPr>
          <p:cNvSpPr>
            <a:spLocks xmlns:a="http://schemas.openxmlformats.org/drawingml/2006/main" noGrp="1"/>
          </p:cNvSpPr>
          <p:nvPr/>
        </p:nvSpPr>
        <p:spPr>
          <a:xfrm xmlns:a="http://schemas.openxmlformats.org/drawingml/2006/main">
            <a:off x="400050" y="56197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Dấu mũ β̂ cho biết đây là giá trị ước lượng từ mẫu, không phải tham số thật β.</a:t>
            </a:r>
          </a:p>
        </p:txBody>
      </p:sp>
    </p:spTree>
    <p:extLst>
      <p:ext uri="{BB962C8B-B14F-4D97-AF65-F5344CB8AC3E}">
        <p14:creationId xmlns:p14="http://schemas.microsoft.com/office/powerpoint/2010/main" val="6809379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8F88C7-00C4-4F95-861F-50A80A61CFF0}"/>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41FFB451-1428-4BB8-A85A-33D666D17282}"/>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89583"/>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Hệ số được tính từ độ lệch quanh trung bình, không chỉ bằng hàm SLOPE</a:t>
            </a:r>
          </a:p>
        </p:txBody>
      </p:sp>
      <p:cxnSp>
        <p:nvCxnSpPr>
          <p:cNvPr id="15"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41D87398-96A2-4524-8446-82454468CDD5}"/>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9</a:t>
            </a:r>
          </a:p>
        </p:txBody>
      </p:sp>
      <p:sp>
        <p:nvSpPr>
          <p:cNvPr id="5" name="">
            <a:extLst xmlns:a="http://schemas.openxmlformats.org/drawingml/2006/main">
              <a:ext uri="{FF2B5EF4-FFF2-40B4-BE49-F238E27FC236}">
                <a16:creationId xmlns:a16="http://schemas.microsoft.com/office/drawing/2014/main" id="{3F584B8D-FA7B-47D9-AD87-BAFE23CF0642}"/>
              </a:ext>
            </a:extLst>
          </p:cNvPr>
          <p:cNvSpPr>
            <a:spLocks xmlns:a="http://schemas.openxmlformats.org/drawingml/2006/main" noGrp="1"/>
          </p:cNvSpPr>
          <p:nvPr/>
        </p:nvSpPr>
        <p:spPr>
          <a:xfrm xmlns:a="http://schemas.openxmlformats.org/drawingml/2006/main">
            <a:off x="400050" y="17145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1. Tính các đại lượng nền</a:t>
            </a:r>
          </a:p>
        </p:txBody>
      </p:sp>
      <p:sp>
        <p:nvSpPr>
          <p:cNvPr id="6" name="">
            <a:extLst xmlns:a="http://schemas.openxmlformats.org/drawingml/2006/main">
              <a:ext uri="{FF2B5EF4-FFF2-40B4-BE49-F238E27FC236}">
                <a16:creationId xmlns:a16="http://schemas.microsoft.com/office/drawing/2014/main" id="{EC8770DF-F229-4056-8CE3-061577C8D649}"/>
              </a:ext>
            </a:extLst>
          </p:cNvPr>
          <p:cNvSpPr>
            <a:spLocks xmlns:a="http://schemas.openxmlformats.org/drawingml/2006/main" noGrp="1"/>
          </p:cNvSpPr>
          <p:nvPr/>
        </p:nvSpPr>
        <p:spPr>
          <a:xfrm xmlns:a="http://schemas.openxmlformats.org/drawingml/2006/main">
            <a:off x="400050" y="2333625"/>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x̄ = 4.4271</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ȳ = 1.9864</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Sxx = 197.5166</a:t>
            </a:r>
          </a:p>
          <a:p xmlns:a="http://schemas.openxmlformats.org/drawingml/2006/main">
            <a:pPr algn="l">
              <a:defRPr sz="2025" b="0">
                <a:solidFill>
                  <a:srgbClr val="000000"/>
                </a:solidFill>
                <a:latin typeface="Helvetica Neue"/>
                <a:ea typeface="Helvetica Neue"/>
                <a:cs typeface="Helvetica Neue"/>
              </a:defRPr>
            </a:pPr>
            <a:r>
              <a:rPr sz="2025" b="0">
                <a:solidFill>
                  <a:srgbClr val="000000"/>
                </a:solidFill>
                <a:latin typeface="Helvetica Neue"/>
                <a:ea typeface="Helvetica Neue"/>
                <a:cs typeface="Helvetica Neue"/>
              </a:rPr>
              <a:t>Sxy = -28.7683</a:t>
            </a:r>
          </a:p>
        </p:txBody>
      </p:sp>
      <p:sp>
        <p:nvSpPr>
          <p:cNvPr id="7" name="">
            <a:extLst xmlns:a="http://schemas.openxmlformats.org/drawingml/2006/main">
              <a:ext uri="{FF2B5EF4-FFF2-40B4-BE49-F238E27FC236}">
                <a16:creationId xmlns:a16="http://schemas.microsoft.com/office/drawing/2014/main" id="{7A096C81-C695-48E1-863B-7E98E58E972E}"/>
              </a:ext>
            </a:extLst>
          </p:cNvPr>
          <p:cNvSpPr>
            <a:spLocks xmlns:a="http://schemas.openxmlformats.org/drawingml/2006/main" noGrp="1"/>
          </p:cNvSpPr>
          <p:nvPr/>
        </p:nvSpPr>
        <p:spPr>
          <a:xfrm xmlns:a="http://schemas.openxmlformats.org/drawingml/2006/main">
            <a:off x="5810250" y="1714500"/>
            <a:ext cx="5981700" cy="3381375"/>
          </a:xfrm>
          <a:prstGeom xmlns:a="http://schemas.openxmlformats.org/drawingml/2006/main" prst="rect">
            <a:avLst/>
          </a:prstGeom>
          <a:solidFill xmlns:a="http://schemas.openxmlformats.org/drawingml/2006/main">
            <a:srgbClr val="E5F3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3F9C4E-9274-462E-872D-28C6C97BD4F3}"/>
              </a:ext>
            </a:extLst>
          </p:cNvPr>
          <p:cNvSpPr>
            <a:spLocks xmlns:a="http://schemas.openxmlformats.org/drawingml/2006/main" noGrp="1"/>
          </p:cNvSpPr>
          <p:nvPr/>
        </p:nvSpPr>
        <p:spPr>
          <a:xfrm xmlns:a="http://schemas.openxmlformats.org/drawingml/2006/main">
            <a:off x="6191250" y="20955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2. Tính hệ số</a:t>
            </a:r>
          </a:p>
        </p:txBody>
      </p:sp>
      <p:sp>
        <p:nvSpPr>
          <p:cNvPr id="9" name="">
            <a:extLst xmlns:a="http://schemas.openxmlformats.org/drawingml/2006/main">
              <a:ext uri="{FF2B5EF4-FFF2-40B4-BE49-F238E27FC236}">
                <a16:creationId xmlns:a16="http://schemas.microsoft.com/office/drawing/2014/main" id="{D580047E-E3A2-42FE-8FEC-B4E9D145695C}"/>
              </a:ext>
            </a:extLst>
          </p:cNvPr>
          <p:cNvSpPr>
            <a:spLocks xmlns:a="http://schemas.openxmlformats.org/drawingml/2006/main" noGrp="1"/>
          </p:cNvSpPr>
          <p:nvPr/>
        </p:nvSpPr>
        <p:spPr>
          <a:xfrm xmlns:a="http://schemas.openxmlformats.org/drawingml/2006/main">
            <a:off x="6191250" y="2809875"/>
            <a:ext cx="457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β̂1 = Sxy / Sxx</a:t>
            </a:r>
          </a:p>
        </p:txBody>
      </p:sp>
      <p:sp>
        <p:nvSpPr>
          <p:cNvPr id="10" name="">
            <a:extLst xmlns:a="http://schemas.openxmlformats.org/drawingml/2006/main">
              <a:ext uri="{FF2B5EF4-FFF2-40B4-BE49-F238E27FC236}">
                <a16:creationId xmlns:a16="http://schemas.microsoft.com/office/drawing/2014/main" id="{B6021FFE-B2EC-43F6-9206-9E2DB5DA62FD}"/>
              </a:ext>
            </a:extLst>
          </p:cNvPr>
          <p:cNvSpPr>
            <a:spLocks xmlns:a="http://schemas.openxmlformats.org/drawingml/2006/main" noGrp="1"/>
          </p:cNvSpPr>
          <p:nvPr/>
        </p:nvSpPr>
        <p:spPr>
          <a:xfrm xmlns:a="http://schemas.openxmlformats.org/drawingml/2006/main">
            <a:off x="6191250" y="3476625"/>
            <a:ext cx="4572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C62828"/>
                </a:solidFill>
                <a:latin typeface="Helvetica Neue"/>
                <a:ea typeface="Helvetica Neue"/>
                <a:cs typeface="Helvetica Neue"/>
              </a:defRPr>
            </a:pPr>
            <a:r>
              <a:rPr sz="2025" b="0">
                <a:solidFill>
                  <a:srgbClr val="C62828"/>
                </a:solidFill>
                <a:latin typeface="Helvetica Neue"/>
                <a:ea typeface="Helvetica Neue"/>
                <a:cs typeface="Helvetica Neue"/>
              </a:rPr>
              <a:t>= -28.7683 / 197.5166</a:t>
            </a:r>
          </a:p>
          <a:p xmlns:a="http://schemas.openxmlformats.org/drawingml/2006/main">
            <a:pPr algn="l">
              <a:defRPr sz="2025" b="0">
                <a:solidFill>
                  <a:srgbClr val="C62828"/>
                </a:solidFill>
                <a:latin typeface="Helvetica Neue"/>
                <a:ea typeface="Helvetica Neue"/>
                <a:cs typeface="Helvetica Neue"/>
              </a:defRPr>
            </a:pPr>
            <a:r>
              <a:rPr sz="2025" b="0">
                <a:solidFill>
                  <a:srgbClr val="C62828"/>
                </a:solidFill>
                <a:latin typeface="Helvetica Neue"/>
                <a:ea typeface="Helvetica Neue"/>
                <a:cs typeface="Helvetica Neue"/>
              </a:rPr>
              <a:t>= -0.1457</a:t>
            </a:r>
          </a:p>
        </p:txBody>
      </p:sp>
      <p:sp>
        <p:nvSpPr>
          <p:cNvPr id="11" name="">
            <a:extLst xmlns:a="http://schemas.openxmlformats.org/drawingml/2006/main">
              <a:ext uri="{FF2B5EF4-FFF2-40B4-BE49-F238E27FC236}">
                <a16:creationId xmlns:a16="http://schemas.microsoft.com/office/drawing/2014/main" id="{0ED14B99-56EA-405A-A29B-340550B8FDB9}"/>
              </a:ext>
            </a:extLst>
          </p:cNvPr>
          <p:cNvSpPr>
            <a:spLocks xmlns:a="http://schemas.openxmlformats.org/drawingml/2006/main" noGrp="1"/>
          </p:cNvSpPr>
          <p:nvPr/>
        </p:nvSpPr>
        <p:spPr>
          <a:xfrm xmlns:a="http://schemas.openxmlformats.org/drawingml/2006/main">
            <a:off x="6191250" y="4524375"/>
            <a:ext cx="495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β̂0 = ȳ − β̂1x̄ = 2.6313</a:t>
            </a:r>
          </a:p>
        </p:txBody>
      </p:sp>
      <p:sp>
        <p:nvSpPr>
          <p:cNvPr id="12" name="">
            <a:extLst xmlns:a="http://schemas.openxmlformats.org/drawingml/2006/main">
              <a:ext uri="{FF2B5EF4-FFF2-40B4-BE49-F238E27FC236}">
                <a16:creationId xmlns:a16="http://schemas.microsoft.com/office/drawing/2014/main" id="{31A74F5A-956A-4E04-8A08-8B56379F86DB}"/>
              </a:ext>
            </a:extLst>
          </p:cNvPr>
          <p:cNvSpPr>
            <a:spLocks xmlns:a="http://schemas.openxmlformats.org/drawingml/2006/main" noGrp="1"/>
          </p:cNvSpPr>
          <p:nvPr/>
        </p:nvSpPr>
        <p:spPr>
          <a:xfrm xmlns:a="http://schemas.openxmlformats.org/drawingml/2006/main">
            <a:off x="400050" y="56197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238636"/>
                </a:solidFill>
                <a:latin typeface="Helvetica Neue"/>
                <a:ea typeface="Helvetica Neue"/>
                <a:cs typeface="Helvetica Neue"/>
              </a:defRPr>
            </a:pPr>
            <a:r>
              <a:rPr sz="2250" b="1">
                <a:solidFill>
                  <a:srgbClr val="238636"/>
                </a:solidFill>
                <a:latin typeface="Helvetica Neue"/>
                <a:ea typeface="Helvetica Neue"/>
                <a:cs typeface="Helvetica Neue"/>
              </a:rPr>
              <a:t>Phương trình mẫu: Ŷ = 2.631 − 0.146X</a:t>
            </a:r>
          </a:p>
        </p:txBody>
      </p:sp>
    </p:spTree>
    <p:extLst>
      <p:ext uri="{BB962C8B-B14F-4D97-AF65-F5344CB8AC3E}">
        <p14:creationId xmlns:p14="http://schemas.microsoft.com/office/powerpoint/2010/main" val="15738573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AEFDC1-0AD1-46B9-8A5E-D53917AD7980}"/>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B2318431-292E-4CBC-B470-053341FDAA4B}"/>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Phần dư cho phép ước lượng sai số và độ bất định của β̂1</a:t>
            </a:r>
          </a:p>
        </p:txBody>
      </p:sp>
      <p:cxnSp>
        <p:nvCxnSpPr>
          <p:cNvPr id="9"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462616D6-FF78-4CC2-9FAA-05ADC87CB5CE}"/>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10</a:t>
            </a:r>
          </a:p>
        </p:txBody>
      </p:sp>
      <p:graphicFrame>
        <p:nvGraphicFramePr>
          <p:cNvPr id="11" name=""/>
          <p:cNvGraphicFramePr/>
          <p:nvPr/>
        </p:nvGraphicFramePr>
        <p:xfrm>
          <a:off xmlns:a="http://schemas.openxmlformats.org/drawingml/2006/main" x="400050" y="1809750"/>
          <a:ext xmlns:a="http://schemas.openxmlformats.org/drawingml/2006/main" cx="11391900" cy="3333750"/>
        </p:xfrm>
        <a:graphic xmlns:a="http://schemas.openxmlformats.org/drawingml/2006/main">
          <a:graphicData uri="http://schemas.openxmlformats.org/drawingml/2006/table">
            <a:tbl>
              <a:tblPr/>
              <a:tblGrid>
                <a:gridCol w="2190750"/>
                <a:gridCol w="3333750"/>
                <a:gridCol w="2000250"/>
                <a:gridCol w="3867150"/>
              </a:tblGrid>
              <a:tr h="555625">
                <a:tc>
                  <a:txBody>
                    <a:bodyPr/>
                    <a:lstStyle/>
                    <a:p>
                      <a:r>
                        <a:rPr sz="1275" b="1">
                          <a:solidFill>
                            <a:srgbClr val="FFFFFF"/>
                          </a:solidFill>
                        </a:rPr>
                        <a:t>Đại lượng</a:t>
                      </a:r>
                    </a:p>
                  </a:txBody>
                  <a:tcPr marL="91440" marR="91440" marT="45720" marB="45720" anchor="ctr">
                    <a:solidFill>
                      <a:srgbClr val="000000"/>
                    </a:solidFill>
                  </a:tcPr>
                </a:tc>
                <a:tc>
                  <a:txBody>
                    <a:bodyPr/>
                    <a:lstStyle/>
                    <a:p>
                      <a:r>
                        <a:rPr sz="1275" b="1">
                          <a:solidFill>
                            <a:srgbClr val="FFFFFF"/>
                          </a:solidFill>
                        </a:rPr>
                        <a:t>Công thức</a:t>
                      </a:r>
                    </a:p>
                  </a:txBody>
                  <a:tcPr marL="91440" marR="91440" marT="45720" marB="45720" anchor="ctr">
                    <a:solidFill>
                      <a:srgbClr val="000000"/>
                    </a:solidFill>
                  </a:tcPr>
                </a:tc>
                <a:tc>
                  <a:txBody>
                    <a:bodyPr/>
                    <a:lstStyle/>
                    <a:p>
                      <a:r>
                        <a:rPr sz="1275" b="1">
                          <a:solidFill>
                            <a:srgbClr val="FFFFFF"/>
                          </a:solidFill>
                        </a:rPr>
                        <a:t>Kết quả</a:t>
                      </a:r>
                    </a:p>
                  </a:txBody>
                  <a:tcPr marL="91440" marR="91440" marT="45720" marB="45720" anchor="ctr">
                    <a:solidFill>
                      <a:srgbClr val="000000"/>
                    </a:solidFill>
                  </a:tcPr>
                </a:tc>
                <a:tc>
                  <a:txBody>
                    <a:bodyPr/>
                    <a:lstStyle/>
                    <a:p>
                      <a:r>
                        <a:rPr sz="1275" b="1">
                          <a:solidFill>
                            <a:srgbClr val="FFFFFF"/>
                          </a:solidFill>
                        </a:rPr>
                        <a:t>Ý nghĩa</a:t>
                      </a:r>
                    </a:p>
                  </a:txBody>
                  <a:tcPr marL="91440" marR="91440" marT="45720" marB="45720" anchor="ctr">
                    <a:solidFill>
                      <a:srgbClr val="000000"/>
                    </a:solidFill>
                  </a:tcPr>
                </a:tc>
              </a:tr>
              <a:tr h="555625">
                <a:tc>
                  <a:txBody>
                    <a:bodyPr/>
                    <a:lstStyle/>
                    <a:p>
                      <a:r>
                        <a:rPr sz="1200">
                          <a:solidFill>
                            <a:srgbClr val="000000"/>
                          </a:solidFill>
                        </a:rPr>
                        <a:t>SSE</a:t>
                      </a:r>
                    </a:p>
                  </a:txBody>
                  <a:tcPr marL="91440" marR="91440" marT="45720" marB="45720" anchor="ctr"/>
                </a:tc>
                <a:tc>
                  <a:txBody>
                    <a:bodyPr/>
                    <a:lstStyle/>
                    <a:p>
                      <a:r>
                        <a:rPr sz="1200">
                          <a:solidFill>
                            <a:srgbClr val="000000"/>
                          </a:solidFill>
                        </a:rPr>
                        <a:t>Σei²</a:t>
                      </a:r>
                    </a:p>
                  </a:txBody>
                  <a:tcPr marL="91440" marR="91440" marT="45720" marB="45720" anchor="ctr"/>
                </a:tc>
                <a:tc>
                  <a:txBody>
                    <a:bodyPr/>
                    <a:lstStyle/>
                    <a:p>
                      <a:r>
                        <a:rPr sz="1200">
                          <a:solidFill>
                            <a:srgbClr val="000000"/>
                          </a:solidFill>
                        </a:rPr>
                        <a:t>4.9590</a:t>
                      </a:r>
                    </a:p>
                  </a:txBody>
                  <a:tcPr marL="91440" marR="91440" marT="45720" marB="45720" anchor="ctr"/>
                </a:tc>
                <a:tc>
                  <a:txBody>
                    <a:bodyPr/>
                    <a:lstStyle/>
                    <a:p>
                      <a:r>
                        <a:rPr sz="1200">
                          <a:solidFill>
                            <a:srgbClr val="000000"/>
                          </a:solidFill>
                        </a:rPr>
                        <a:t>Tổng sai lệch còn lại</a:t>
                      </a:r>
                    </a:p>
                  </a:txBody>
                  <a:tcPr marL="91440" marR="91440" marT="45720" marB="45720" anchor="ctr"/>
                </a:tc>
              </a:tr>
              <a:tr h="555625">
                <a:tc>
                  <a:txBody>
                    <a:bodyPr/>
                    <a:lstStyle/>
                    <a:p>
                      <a:r>
                        <a:rPr sz="1200">
                          <a:solidFill>
                            <a:srgbClr val="000000"/>
                          </a:solidFill>
                        </a:rPr>
                        <a:t>s²</a:t>
                      </a:r>
                    </a:p>
                  </a:txBody>
                  <a:tcPr marL="91440" marR="91440" marT="45720" marB="45720" anchor="ctr"/>
                </a:tc>
                <a:tc>
                  <a:txBody>
                    <a:bodyPr/>
                    <a:lstStyle/>
                    <a:p>
                      <a:r>
                        <a:rPr sz="1200">
                          <a:solidFill>
                            <a:srgbClr val="000000"/>
                          </a:solidFill>
                        </a:rPr>
                        <a:t>SSE/(n−2)</a:t>
                      </a:r>
                    </a:p>
                  </a:txBody>
                  <a:tcPr marL="91440" marR="91440" marT="45720" marB="45720" anchor="ctr"/>
                </a:tc>
                <a:tc>
                  <a:txBody>
                    <a:bodyPr/>
                    <a:lstStyle/>
                    <a:p>
                      <a:r>
                        <a:rPr sz="1200">
                          <a:solidFill>
                            <a:srgbClr val="000000"/>
                          </a:solidFill>
                        </a:rPr>
                        <a:t>0.0870</a:t>
                      </a:r>
                    </a:p>
                  </a:txBody>
                  <a:tcPr marL="91440" marR="91440" marT="45720" marB="45720" anchor="ctr"/>
                </a:tc>
                <a:tc>
                  <a:txBody>
                    <a:bodyPr/>
                    <a:lstStyle/>
                    <a:p>
                      <a:r>
                        <a:rPr sz="1200">
                          <a:solidFill>
                            <a:srgbClr val="000000"/>
                          </a:solidFill>
                        </a:rPr>
                        <a:t>Ước lượng σ²</a:t>
                      </a:r>
                    </a:p>
                  </a:txBody>
                  <a:tcPr marL="91440" marR="91440" marT="45720" marB="45720" anchor="ctr"/>
                </a:tc>
              </a:tr>
              <a:tr h="555625">
                <a:tc>
                  <a:txBody>
                    <a:bodyPr/>
                    <a:lstStyle/>
                    <a:p>
                      <a:r>
                        <a:rPr sz="1200">
                          <a:solidFill>
                            <a:srgbClr val="000000"/>
                          </a:solidFill>
                        </a:rPr>
                        <a:t>s</a:t>
                      </a:r>
                    </a:p>
                  </a:txBody>
                  <a:tcPr marL="91440" marR="91440" marT="45720" marB="45720" anchor="ctr"/>
                </a:tc>
                <a:tc>
                  <a:txBody>
                    <a:bodyPr/>
                    <a:lstStyle/>
                    <a:p>
                      <a:r>
                        <a:rPr sz="1200">
                          <a:solidFill>
                            <a:srgbClr val="000000"/>
                          </a:solidFill>
                        </a:rPr>
                        <a:t>√s²</a:t>
                      </a:r>
                    </a:p>
                  </a:txBody>
                  <a:tcPr marL="91440" marR="91440" marT="45720" marB="45720" anchor="ctr"/>
                </a:tc>
                <a:tc>
                  <a:txBody>
                    <a:bodyPr/>
                    <a:lstStyle/>
                    <a:p>
                      <a:r>
                        <a:rPr sz="1200">
                          <a:solidFill>
                            <a:srgbClr val="000000"/>
                          </a:solidFill>
                        </a:rPr>
                        <a:t>0.2950</a:t>
                      </a:r>
                    </a:p>
                  </a:txBody>
                  <a:tcPr marL="91440" marR="91440" marT="45720" marB="45720" anchor="ctr"/>
                </a:tc>
                <a:tc>
                  <a:txBody>
                    <a:bodyPr/>
                    <a:lstStyle/>
                    <a:p>
                      <a:r>
                        <a:rPr sz="1200">
                          <a:solidFill>
                            <a:srgbClr val="000000"/>
                          </a:solidFill>
                        </a:rPr>
                        <a:t>Sai số chuẩn mô hình</a:t>
                      </a:r>
                    </a:p>
                  </a:txBody>
                  <a:tcPr marL="91440" marR="91440" marT="45720" marB="45720" anchor="ctr"/>
                </a:tc>
              </a:tr>
              <a:tr h="555625">
                <a:tc>
                  <a:txBody>
                    <a:bodyPr/>
                    <a:lstStyle/>
                    <a:p>
                      <a:r>
                        <a:rPr sz="1200">
                          <a:solidFill>
                            <a:srgbClr val="000000"/>
                          </a:solidFill>
                        </a:rPr>
                        <a:t>SE(β̂1)</a:t>
                      </a:r>
                    </a:p>
                  </a:txBody>
                  <a:tcPr marL="91440" marR="91440" marT="45720" marB="45720" anchor="ctr"/>
                </a:tc>
                <a:tc>
                  <a:txBody>
                    <a:bodyPr/>
                    <a:lstStyle/>
                    <a:p>
                      <a:r>
                        <a:rPr sz="1200">
                          <a:solidFill>
                            <a:srgbClr val="000000"/>
                          </a:solidFill>
                        </a:rPr>
                        <a:t>s/√Sxx</a:t>
                      </a:r>
                    </a:p>
                  </a:txBody>
                  <a:tcPr marL="91440" marR="91440" marT="45720" marB="45720" anchor="ctr"/>
                </a:tc>
                <a:tc>
                  <a:txBody>
                    <a:bodyPr/>
                    <a:lstStyle/>
                    <a:p>
                      <a:r>
                        <a:rPr sz="1200">
                          <a:solidFill>
                            <a:srgbClr val="000000"/>
                          </a:solidFill>
                        </a:rPr>
                        <a:t>0.0210</a:t>
                      </a:r>
                    </a:p>
                  </a:txBody>
                  <a:tcPr marL="91440" marR="91440" marT="45720" marB="45720" anchor="ctr"/>
                </a:tc>
                <a:tc>
                  <a:txBody>
                    <a:bodyPr/>
                    <a:lstStyle/>
                    <a:p>
                      <a:r>
                        <a:rPr sz="1200">
                          <a:solidFill>
                            <a:srgbClr val="000000"/>
                          </a:solidFill>
                        </a:rPr>
                        <a:t>Độ bất định β̂1</a:t>
                      </a:r>
                    </a:p>
                  </a:txBody>
                  <a:tcPr marL="91440" marR="91440" marT="45720" marB="45720" anchor="ctr"/>
                </a:tc>
              </a:tr>
              <a:tr h="555625">
                <a:tc>
                  <a:txBody>
                    <a:bodyPr/>
                    <a:lstStyle/>
                    <a:p>
                      <a:r>
                        <a:rPr sz="1200">
                          <a:solidFill>
                            <a:srgbClr val="000000"/>
                          </a:solidFill>
                        </a:rPr>
                        <a:t>SE(β̂0)</a:t>
                      </a:r>
                    </a:p>
                  </a:txBody>
                  <a:tcPr marL="91440" marR="91440" marT="45720" marB="45720" anchor="ctr"/>
                </a:tc>
                <a:tc>
                  <a:txBody>
                    <a:bodyPr/>
                    <a:lstStyle/>
                    <a:p>
                      <a:r>
                        <a:rPr sz="1200">
                          <a:solidFill>
                            <a:srgbClr val="000000"/>
                          </a:solidFill>
                        </a:rPr>
                        <a:t>s√(1/n+x̄²/Sxx)</a:t>
                      </a:r>
                    </a:p>
                  </a:txBody>
                  <a:tcPr marL="91440" marR="91440" marT="45720" marB="45720" anchor="ctr"/>
                </a:tc>
                <a:tc>
                  <a:txBody>
                    <a:bodyPr/>
                    <a:lstStyle/>
                    <a:p>
                      <a:r>
                        <a:rPr sz="1200">
                          <a:solidFill>
                            <a:srgbClr val="000000"/>
                          </a:solidFill>
                        </a:rPr>
                        <a:t>0.1005</a:t>
                      </a:r>
                    </a:p>
                  </a:txBody>
                  <a:tcPr marL="91440" marR="91440" marT="45720" marB="45720" anchor="ctr"/>
                </a:tc>
                <a:tc>
                  <a:txBody>
                    <a:bodyPr/>
                    <a:lstStyle/>
                    <a:p>
                      <a:r>
                        <a:rPr sz="1200">
                          <a:solidFill>
                            <a:srgbClr val="000000"/>
                          </a:solidFill>
                        </a:rPr>
                        <a:t>Độ bất định β̂0</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361D9BA1-A312-4F88-960A-AC83C59555E4}"/>
              </a:ext>
            </a:extLst>
          </p:cNvPr>
          <p:cNvSpPr>
            <a:spLocks xmlns:a="http://schemas.openxmlformats.org/drawingml/2006/main" noGrp="1"/>
          </p:cNvSpPr>
          <p:nvPr/>
        </p:nvSpPr>
        <p:spPr>
          <a:xfrm xmlns:a="http://schemas.openxmlformats.org/drawingml/2006/main">
            <a:off x="400050" y="5572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SSE càng nhỏ so với SST, mô hình càng giải thích được nhiều biến thiên của giá.</a:t>
            </a:r>
          </a:p>
        </p:txBody>
      </p:sp>
    </p:spTree>
    <p:extLst>
      <p:ext uri="{BB962C8B-B14F-4D97-AF65-F5344CB8AC3E}">
        <p14:creationId xmlns:p14="http://schemas.microsoft.com/office/powerpoint/2010/main" val="13376766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3916F33-BD9C-4E26-8A61-8FFE0F2B2996}"/>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486AC337-E48D-4C19-9394-FB2A2BB487F7}"/>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Hệ số khoảng cách âm và có ý nghĩa thống kê ở mức 5%</a:t>
            </a:r>
          </a:p>
        </p:txBody>
      </p:sp>
      <p:cxnSp>
        <p:nvCxnSpPr>
          <p:cNvPr id="19"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B7D1FACD-8BC8-4BD9-8E86-BDD296504FD3}"/>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11</a:t>
            </a:r>
          </a:p>
        </p:txBody>
      </p:sp>
      <p:sp>
        <p:nvSpPr>
          <p:cNvPr id="5" name="">
            <a:extLst xmlns:a="http://schemas.openxmlformats.org/drawingml/2006/main">
              <a:ext uri="{FF2B5EF4-FFF2-40B4-BE49-F238E27FC236}">
                <a16:creationId xmlns:a16="http://schemas.microsoft.com/office/drawing/2014/main" id="{6B88612C-3FC1-4AAF-987D-FBF6963E5495}"/>
              </a:ext>
            </a:extLst>
          </p:cNvPr>
          <p:cNvSpPr>
            <a:spLocks xmlns:a="http://schemas.openxmlformats.org/drawingml/2006/main" noGrp="1"/>
          </p:cNvSpPr>
          <p:nvPr/>
        </p:nvSpPr>
        <p:spPr>
          <a:xfrm xmlns:a="http://schemas.openxmlformats.org/drawingml/2006/main">
            <a:off x="400050" y="1809750"/>
            <a:ext cx="428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H0: β1 = 0</a:t>
            </a:r>
          </a:p>
        </p:txBody>
      </p:sp>
      <p:sp>
        <p:nvSpPr>
          <p:cNvPr id="6" name="">
            <a:extLst xmlns:a="http://schemas.openxmlformats.org/drawingml/2006/main">
              <a:ext uri="{FF2B5EF4-FFF2-40B4-BE49-F238E27FC236}">
                <a16:creationId xmlns:a16="http://schemas.microsoft.com/office/drawing/2014/main" id="{C93BEF1B-4E7A-4085-87E1-56AFDC718AF3}"/>
              </a:ext>
            </a:extLst>
          </p:cNvPr>
          <p:cNvSpPr>
            <a:spLocks xmlns:a="http://schemas.openxmlformats.org/drawingml/2006/main" noGrp="1"/>
          </p:cNvSpPr>
          <p:nvPr/>
        </p:nvSpPr>
        <p:spPr>
          <a:xfrm xmlns:a="http://schemas.openxmlformats.org/drawingml/2006/main">
            <a:off x="400050" y="2428875"/>
            <a:ext cx="476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Khoảng cách không có quan hệ tuyến tính với giá.</a:t>
            </a:r>
          </a:p>
        </p:txBody>
      </p:sp>
      <p:sp>
        <p:nvSpPr>
          <p:cNvPr id="7" name="">
            <a:extLst xmlns:a="http://schemas.openxmlformats.org/drawingml/2006/main">
              <a:ext uri="{FF2B5EF4-FFF2-40B4-BE49-F238E27FC236}">
                <a16:creationId xmlns:a16="http://schemas.microsoft.com/office/drawing/2014/main" id="{4DB6066B-E7FB-4336-AE91-B41B6BB4B843}"/>
              </a:ext>
            </a:extLst>
          </p:cNvPr>
          <p:cNvSpPr>
            <a:spLocks xmlns:a="http://schemas.openxmlformats.org/drawingml/2006/main" noGrp="1"/>
          </p:cNvSpPr>
          <p:nvPr/>
        </p:nvSpPr>
        <p:spPr>
          <a:xfrm xmlns:a="http://schemas.openxmlformats.org/drawingml/2006/main">
            <a:off x="400050" y="3619500"/>
            <a:ext cx="342900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222E7E8-31F2-4861-BBCA-FB9CC45173DB}"/>
              </a:ext>
            </a:extLst>
          </p:cNvPr>
          <p:cNvSpPr>
            <a:spLocks xmlns:a="http://schemas.openxmlformats.org/drawingml/2006/main" noGrp="1"/>
          </p:cNvSpPr>
          <p:nvPr/>
        </p:nvSpPr>
        <p:spPr>
          <a:xfrm xmlns:a="http://schemas.openxmlformats.org/drawingml/2006/main">
            <a:off x="628650" y="4000500"/>
            <a:ext cx="2971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-6.940</a:t>
            </a:r>
          </a:p>
        </p:txBody>
      </p:sp>
      <p:sp>
        <p:nvSpPr>
          <p:cNvPr id="9" name="">
            <a:extLst xmlns:a="http://schemas.openxmlformats.org/drawingml/2006/main">
              <a:ext uri="{FF2B5EF4-FFF2-40B4-BE49-F238E27FC236}">
                <a16:creationId xmlns:a16="http://schemas.microsoft.com/office/drawing/2014/main" id="{E3D116F1-BF12-43FF-A505-5544393DB5F8}"/>
              </a:ext>
            </a:extLst>
          </p:cNvPr>
          <p:cNvSpPr>
            <a:spLocks xmlns:a="http://schemas.openxmlformats.org/drawingml/2006/main" noGrp="1"/>
          </p:cNvSpPr>
          <p:nvPr/>
        </p:nvSpPr>
        <p:spPr>
          <a:xfrm xmlns:a="http://schemas.openxmlformats.org/drawingml/2006/main">
            <a:off x="628650" y="48577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t-statistic</a:t>
            </a:r>
          </a:p>
        </p:txBody>
      </p:sp>
      <p:sp>
        <p:nvSpPr>
          <p:cNvPr id="10" name="">
            <a:extLst xmlns:a="http://schemas.openxmlformats.org/drawingml/2006/main">
              <a:ext uri="{FF2B5EF4-FFF2-40B4-BE49-F238E27FC236}">
                <a16:creationId xmlns:a16="http://schemas.microsoft.com/office/drawing/2014/main" id="{084F9F78-1DF5-4FE5-8763-78723822C444}"/>
              </a:ext>
            </a:extLst>
          </p:cNvPr>
          <p:cNvSpPr>
            <a:spLocks xmlns:a="http://schemas.openxmlformats.org/drawingml/2006/main" noGrp="1"/>
          </p:cNvSpPr>
          <p:nvPr/>
        </p:nvSpPr>
        <p:spPr>
          <a:xfrm xmlns:a="http://schemas.openxmlformats.org/drawingml/2006/main">
            <a:off x="4191000" y="3619500"/>
            <a:ext cx="3429000" cy="1809750"/>
          </a:xfrm>
          <a:prstGeom xmlns:a="http://schemas.openxmlformats.org/drawingml/2006/main" prst="rect">
            <a:avLst/>
          </a:prstGeom>
          <a:solidFill xmlns:a="http://schemas.openxmlformats.org/drawingml/2006/main">
            <a:srgbClr val="E5F3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A5A689-A6B4-48B6-B4B2-E92BEE2C0BCA}"/>
              </a:ext>
            </a:extLst>
          </p:cNvPr>
          <p:cNvSpPr>
            <a:spLocks xmlns:a="http://schemas.openxmlformats.org/drawingml/2006/main" noGrp="1"/>
          </p:cNvSpPr>
          <p:nvPr/>
        </p:nvSpPr>
        <p:spPr>
          <a:xfrm xmlns:a="http://schemas.openxmlformats.org/drawingml/2006/main">
            <a:off x="4419600" y="4000500"/>
            <a:ext cx="2971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3D8DFF"/>
                </a:solidFill>
                <a:latin typeface="Helvetica Neue"/>
                <a:ea typeface="Helvetica Neue"/>
                <a:cs typeface="Helvetica Neue"/>
              </a:defRPr>
            </a:pPr>
            <a:r>
              <a:rPr sz="2850" b="1">
                <a:solidFill>
                  <a:srgbClr val="3D8DFF"/>
                </a:solidFill>
                <a:latin typeface="Helvetica Neue"/>
                <a:ea typeface="Helvetica Neue"/>
                <a:cs typeface="Helvetica Neue"/>
              </a:rPr>
              <a:t>4.01e-9</a:t>
            </a:r>
          </a:p>
        </p:txBody>
      </p:sp>
      <p:sp>
        <p:nvSpPr>
          <p:cNvPr id="12" name="">
            <a:extLst xmlns:a="http://schemas.openxmlformats.org/drawingml/2006/main">
              <a:ext uri="{FF2B5EF4-FFF2-40B4-BE49-F238E27FC236}">
                <a16:creationId xmlns:a16="http://schemas.microsoft.com/office/drawing/2014/main" id="{072F633F-A535-474B-B3F9-98608C6F6B8A}"/>
              </a:ext>
            </a:extLst>
          </p:cNvPr>
          <p:cNvSpPr>
            <a:spLocks xmlns:a="http://schemas.openxmlformats.org/drawingml/2006/main" noGrp="1"/>
          </p:cNvSpPr>
          <p:nvPr/>
        </p:nvSpPr>
        <p:spPr>
          <a:xfrm xmlns:a="http://schemas.openxmlformats.org/drawingml/2006/main">
            <a:off x="4419600" y="48577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p-value</a:t>
            </a:r>
          </a:p>
        </p:txBody>
      </p:sp>
      <p:sp>
        <p:nvSpPr>
          <p:cNvPr id="13" name="">
            <a:extLst xmlns:a="http://schemas.openxmlformats.org/drawingml/2006/main">
              <a:ext uri="{FF2B5EF4-FFF2-40B4-BE49-F238E27FC236}">
                <a16:creationId xmlns:a16="http://schemas.microsoft.com/office/drawing/2014/main" id="{35361D9A-6549-4900-B87C-645A8D4EAAF9}"/>
              </a:ext>
            </a:extLst>
          </p:cNvPr>
          <p:cNvSpPr>
            <a:spLocks xmlns:a="http://schemas.openxmlformats.org/drawingml/2006/main" noGrp="1"/>
          </p:cNvSpPr>
          <p:nvPr/>
        </p:nvSpPr>
        <p:spPr>
          <a:xfrm xmlns:a="http://schemas.openxmlformats.org/drawingml/2006/main">
            <a:off x="7981950" y="3619500"/>
            <a:ext cx="342900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8A75A71-8A6D-4442-9EFA-8D050F0DE809}"/>
              </a:ext>
            </a:extLst>
          </p:cNvPr>
          <p:cNvSpPr>
            <a:spLocks xmlns:a="http://schemas.openxmlformats.org/drawingml/2006/main" noGrp="1"/>
          </p:cNvSpPr>
          <p:nvPr/>
        </p:nvSpPr>
        <p:spPr>
          <a:xfrm xmlns:a="http://schemas.openxmlformats.org/drawingml/2006/main">
            <a:off x="8210550" y="4000500"/>
            <a:ext cx="2971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[-0.188; -0.104]</a:t>
            </a:r>
          </a:p>
        </p:txBody>
      </p:sp>
      <p:sp>
        <p:nvSpPr>
          <p:cNvPr id="15" name="">
            <a:extLst xmlns:a="http://schemas.openxmlformats.org/drawingml/2006/main">
              <a:ext uri="{FF2B5EF4-FFF2-40B4-BE49-F238E27FC236}">
                <a16:creationId xmlns:a16="http://schemas.microsoft.com/office/drawing/2014/main" id="{8848AEC5-5B28-43A0-9839-746CCCC9DC8E}"/>
              </a:ext>
            </a:extLst>
          </p:cNvPr>
          <p:cNvSpPr>
            <a:spLocks xmlns:a="http://schemas.openxmlformats.org/drawingml/2006/main" noGrp="1"/>
          </p:cNvSpPr>
          <p:nvPr/>
        </p:nvSpPr>
        <p:spPr>
          <a:xfrm xmlns:a="http://schemas.openxmlformats.org/drawingml/2006/main">
            <a:off x="8210550" y="4857750"/>
            <a:ext cx="2971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CI 95% của β1</a:t>
            </a:r>
          </a:p>
        </p:txBody>
      </p:sp>
      <p:sp>
        <p:nvSpPr>
          <p:cNvPr id="16" name="">
            <a:extLst xmlns:a="http://schemas.openxmlformats.org/drawingml/2006/main">
              <a:ext uri="{FF2B5EF4-FFF2-40B4-BE49-F238E27FC236}">
                <a16:creationId xmlns:a16="http://schemas.microsoft.com/office/drawing/2014/main" id="{B0E9951D-5721-43A1-ACA4-DF851B3B8A7D}"/>
              </a:ext>
            </a:extLst>
          </p:cNvPr>
          <p:cNvSpPr>
            <a:spLocks xmlns:a="http://schemas.openxmlformats.org/drawingml/2006/main" noGrp="1"/>
          </p:cNvSpPr>
          <p:nvPr/>
        </p:nvSpPr>
        <p:spPr>
          <a:xfrm xmlns:a="http://schemas.openxmlformats.org/drawingml/2006/main">
            <a:off x="400050" y="576262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38636"/>
                </a:solidFill>
                <a:latin typeface="Helvetica Neue"/>
                <a:ea typeface="Helvetica Neue"/>
                <a:cs typeface="Helvetica Neue"/>
              </a:defRPr>
            </a:pPr>
            <a:r>
              <a:rPr sz="1725" b="1">
                <a:solidFill>
                  <a:srgbClr val="238636"/>
                </a:solidFill>
                <a:latin typeface="Helvetica Neue"/>
                <a:ea typeface="Helvetica Neue"/>
                <a:cs typeface="Helvetica Neue"/>
              </a:rPr>
              <a:t>p-value &lt; 0,05 và khoảng tin cậy không chứa 0 ⇒ bác bỏ H0.</a:t>
            </a:r>
          </a:p>
        </p:txBody>
      </p:sp>
    </p:spTree>
    <p:extLst>
      <p:ext uri="{BB962C8B-B14F-4D97-AF65-F5344CB8AC3E}">
        <p14:creationId xmlns:p14="http://schemas.microsoft.com/office/powerpoint/2010/main" val="13973164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22B7B4-E873-42CD-93EF-D53EA0190473}"/>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957CE37E-DC08-4941-B757-58CBB94A8BD6}"/>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89583"/>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Xa thêm 1 km gắn với mức giảm trung bình khoảng 146 nghìn đồng/tháng</a:t>
            </a:r>
          </a:p>
        </p:txBody>
      </p:sp>
      <p:cxnSp>
        <p:nvCxnSpPr>
          <p:cNvPr id="12"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FBA14D93-C1BA-4007-9B83-48FDC6747CD9}"/>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12</a:t>
            </a:r>
          </a:p>
        </p:txBody>
      </p:sp>
      <p:graphicFrame>
        <p:nvGraphicFramePr>
          <p:cNvPr id="14" name="Chart"/>
          <p:cNvGraphicFramePr/>
          <p:nvPr/>
        </p:nvGraphicFramePr>
        <p:xfrm>
          <a:off xmlns:a="http://schemas.openxmlformats.org/drawingml/2006/main" x="400050" y="1666875"/>
          <a:ext xmlns:a="http://schemas.openxmlformats.org/drawingml/2006/main" cx="7143750" cy="4286250"/>
        </p:xfrm>
        <a:graphic xmlns:a="http://schemas.openxmlformats.org/drawingml/2006/main">
          <a:graphicData uri="http://schemas.openxmlformats.org/drawingml/2006/chart">
            <c:chart xmlns:r="http://schemas.openxmlformats.org/officeDocument/2006/relationships" xmlns:c="http://schemas.openxmlformats.org/drawingml/2006/chart" r:id="R770ffd028957423a"/>
          </a:graphicData>
        </a:graphic>
      </p:graphicFrame>
      <p:sp>
        <p:nvSpPr>
          <p:cNvPr id="6" name="">
            <a:extLst xmlns:a="http://schemas.openxmlformats.org/drawingml/2006/main">
              <a:ext uri="{FF2B5EF4-FFF2-40B4-BE49-F238E27FC236}">
                <a16:creationId xmlns:a16="http://schemas.microsoft.com/office/drawing/2014/main" id="{D359D27B-6CDF-4663-AE9F-925567F69F31}"/>
              </a:ext>
            </a:extLst>
          </p:cNvPr>
          <p:cNvSpPr>
            <a:spLocks xmlns:a="http://schemas.openxmlformats.org/drawingml/2006/main" noGrp="1"/>
          </p:cNvSpPr>
          <p:nvPr/>
        </p:nvSpPr>
        <p:spPr>
          <a:xfrm xmlns:a="http://schemas.openxmlformats.org/drawingml/2006/main">
            <a:off x="7953375" y="204787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38636"/>
                </a:solidFill>
                <a:latin typeface="Helvetica Neue"/>
                <a:ea typeface="Helvetica Neue"/>
                <a:cs typeface="Helvetica Neue"/>
              </a:defRPr>
            </a:pPr>
            <a:r>
              <a:rPr sz="2325" b="1">
                <a:solidFill>
                  <a:srgbClr val="238636"/>
                </a:solidFill>
                <a:latin typeface="Helvetica Neue"/>
                <a:ea typeface="Helvetica Neue"/>
                <a:cs typeface="Helvetica Neue"/>
              </a:rPr>
              <a:t>Ŷ = 2.631 − 0.146X</a:t>
            </a:r>
          </a:p>
        </p:txBody>
      </p:sp>
      <p:sp>
        <p:nvSpPr>
          <p:cNvPr id="7" name="">
            <a:extLst xmlns:a="http://schemas.openxmlformats.org/drawingml/2006/main">
              <a:ext uri="{FF2B5EF4-FFF2-40B4-BE49-F238E27FC236}">
                <a16:creationId xmlns:a16="http://schemas.microsoft.com/office/drawing/2014/main" id="{133E371C-5FCD-4F48-A654-B8F0B4F3D449}"/>
              </a:ext>
            </a:extLst>
          </p:cNvPr>
          <p:cNvSpPr>
            <a:spLocks xmlns:a="http://schemas.openxmlformats.org/drawingml/2006/main" noGrp="1"/>
          </p:cNvSpPr>
          <p:nvPr/>
        </p:nvSpPr>
        <p:spPr>
          <a:xfrm xmlns:a="http://schemas.openxmlformats.org/drawingml/2006/main">
            <a:off x="7953375" y="3238500"/>
            <a:ext cx="323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R² = 45.80%</a:t>
            </a:r>
          </a:p>
        </p:txBody>
      </p:sp>
      <p:sp>
        <p:nvSpPr>
          <p:cNvPr id="8" name="">
            <a:extLst xmlns:a="http://schemas.openxmlformats.org/drawingml/2006/main">
              <a:ext uri="{FF2B5EF4-FFF2-40B4-BE49-F238E27FC236}">
                <a16:creationId xmlns:a16="http://schemas.microsoft.com/office/drawing/2014/main" id="{94A84C3F-CF27-41B5-A985-EC966B2D614C}"/>
              </a:ext>
            </a:extLst>
          </p:cNvPr>
          <p:cNvSpPr>
            <a:spLocks xmlns:a="http://schemas.openxmlformats.org/drawingml/2006/main" noGrp="1"/>
          </p:cNvSpPr>
          <p:nvPr/>
        </p:nvSpPr>
        <p:spPr>
          <a:xfrm xmlns:a="http://schemas.openxmlformats.org/drawingml/2006/main">
            <a:off x="7953375" y="4000500"/>
            <a:ext cx="3429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rPr sz="1575" b="0">
                <a:solidFill>
                  <a:srgbClr val="000000"/>
                </a:solidFill>
                <a:latin typeface="Helvetica Neue"/>
                <a:ea typeface="Helvetica Neue"/>
                <a:cs typeface="Helvetica Neue"/>
              </a:rPr>
              <a:t>Khoảng cách giải thích 45,80% biến thiên giá trong mẫu trọ ngoài.</a:t>
            </a:r>
          </a:p>
        </p:txBody>
      </p:sp>
      <p:sp>
        <p:nvSpPr>
          <p:cNvPr id="9" name="">
            <a:extLst xmlns:a="http://schemas.openxmlformats.org/drawingml/2006/main">
              <a:ext uri="{FF2B5EF4-FFF2-40B4-BE49-F238E27FC236}">
                <a16:creationId xmlns:a16="http://schemas.microsoft.com/office/drawing/2014/main" id="{DBFDC506-2EEB-4656-BCCC-1433FE418564}"/>
              </a:ext>
            </a:extLst>
          </p:cNvPr>
          <p:cNvSpPr>
            <a:spLocks xmlns:a="http://schemas.openxmlformats.org/drawingml/2006/main" noGrp="1"/>
          </p:cNvSpPr>
          <p:nvPr/>
        </p:nvSpPr>
        <p:spPr>
          <a:xfrm xmlns:a="http://schemas.openxmlformats.org/drawingml/2006/main">
            <a:off x="7953375" y="528637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Đây là mối liên hệ thống kê, chưa phải bằng chứng nhân quả.</a:t>
            </a:r>
          </a:p>
        </p:txBody>
      </p:sp>
    </p:spTree>
    <p:extLst>
      <p:ext uri="{BB962C8B-B14F-4D97-AF65-F5344CB8AC3E}">
        <p14:creationId xmlns:p14="http://schemas.microsoft.com/office/powerpoint/2010/main" val="10933562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65B8C14-8D17-4733-95B8-4290E57FCC25}"/>
              </a:ext>
            </a:extLst>
          </p:cNvPr>
          <p:cNvSpPr>
            <a:spLocks xmlns:a="http://schemas.openxmlformats.org/drawingml/2006/main" noGrp="1"/>
          </p:cNvSpPr>
          <p:nvPr/>
        </p:nvSpPr>
        <p:spPr>
          <a:xfrm xmlns:a="http://schemas.openxmlformats.org/drawingml/2006/main">
            <a:off x="400050" y="285750"/>
            <a:ext cx="4953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t>MAS • HỒI QUY TUYẾN TÍNH ĐƠN</a:t>
            </a:r>
          </a:p>
        </p:txBody>
      </p:sp>
      <p:sp>
        <p:nvSpPr>
          <p:cNvPr id="2" name="slide-title">
            <a:extLst xmlns:a="http://schemas.openxmlformats.org/drawingml/2006/main">
              <a:ext uri="{FF2B5EF4-FFF2-40B4-BE49-F238E27FC236}">
                <a16:creationId xmlns:a16="http://schemas.microsoft.com/office/drawing/2014/main" id="{29E1007D-5139-4AC4-BE19-4AA4C7BD2FB2}"/>
              </a:ext>
            </a:extLst>
          </p:cNvPr>
          <p:cNvSpPr>
            <a:spLocks xmlns:a="http://schemas.openxmlformats.org/drawingml/2006/main" noGrp="1"/>
          </p:cNvSpPr>
          <p:nvPr/>
        </p:nvSpPr>
        <p:spPr>
          <a:xfrm xmlns:a="http://schemas.openxmlformats.org/drawingml/2006/main">
            <a:off x="400050" y="647700"/>
            <a:ext cx="11239500" cy="819150"/>
          </a:xfrm>
          <a:prstGeom xmlns:a="http://schemas.openxmlformats.org/drawingml/2006/main" prst="rect">
            <a:avLst/>
          </a:prstGeom>
        </p:spPr>
        <p:txBody>
          <a:bodyPr xmlns:a="http://schemas.openxmlformats.org/drawingml/2006/main" lIns="0" tIns="0" rIns="0" bIns="0">
            <a:normAutofit fontScale="89583"/>
          </a:bodyPr>
          <a:lstStyle xmlns:a="http://schemas.openxmlformats.org/drawingml/2006/main"/>
          <a:p xmlns:a="http://schemas.openxmlformats.org/drawingml/2006/main">
            <a:pPr>
              <a:defRPr sz="3000" b="1">
                <a:solidFill>
                  <a:srgbClr val="000000"/>
                </a:solidFill>
                <a:latin typeface="Helvetica Neue"/>
                <a:ea typeface="Helvetica Neue"/>
                <a:cs typeface="Helvetica Neue"/>
              </a:defRPr>
            </a:pPr>
            <a:r>
              <a:t>Ở khoảng cách 3 km, giá thuê dự báo trung bình là 2,194 triệu đồng/tháng</a:t>
            </a:r>
          </a:p>
        </p:txBody>
      </p:sp>
      <p:cxnSp>
        <p:nvCxnSpPr>
          <p:cNvPr id="15" name=""/>
          <p:cNvCxnSpPr/>
          <p:nvPr/>
        </p:nvCxnSpPr>
        <p:spPr>
          <a:xfrm xmlns:a="http://schemas.openxmlformats.org/drawingml/2006/main">
            <a:off x="400050" y="6334125"/>
            <a:ext cx="228600" cy="22860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B3A6EC8B-780E-4697-B164-77AC90F2AD53}"/>
              </a:ext>
            </a:extLst>
          </p:cNvPr>
          <p:cNvSpPr>
            <a:spLocks xmlns:a="http://schemas.openxmlformats.org/drawingml/2006/main" noGrp="1"/>
          </p:cNvSpPr>
          <p:nvPr/>
        </p:nvSpPr>
        <p:spPr>
          <a:xfrm xmlns:a="http://schemas.openxmlformats.org/drawingml/2006/main">
            <a:off x="400050" y="6438900"/>
            <a:ext cx="1139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r">
              <a:defRPr sz="975">
                <a:solidFill>
                  <a:srgbClr val="667085"/>
                </a:solidFill>
                <a:latin typeface="Helvetica Neue"/>
                <a:ea typeface="Helvetica Neue"/>
                <a:cs typeface="Helvetica Neue"/>
              </a:defRPr>
            </a:pPr>
            <a:r>
              <a:t>Nguồn: data_clean_sample.csv • Trang 13</a:t>
            </a:r>
          </a:p>
        </p:txBody>
      </p:sp>
      <p:sp>
        <p:nvSpPr>
          <p:cNvPr id="5" name="">
            <a:extLst xmlns:a="http://schemas.openxmlformats.org/drawingml/2006/main">
              <a:ext uri="{FF2B5EF4-FFF2-40B4-BE49-F238E27FC236}">
                <a16:creationId xmlns:a16="http://schemas.microsoft.com/office/drawing/2014/main" id="{BE437FC2-771A-44C8-BDC8-449FC6202583}"/>
              </a:ext>
            </a:extLst>
          </p:cNvPr>
          <p:cNvSpPr>
            <a:spLocks xmlns:a="http://schemas.openxmlformats.org/drawingml/2006/main" noGrp="1"/>
          </p:cNvSpPr>
          <p:nvPr/>
        </p:nvSpPr>
        <p:spPr>
          <a:xfrm xmlns:a="http://schemas.openxmlformats.org/drawingml/2006/main">
            <a:off x="400050" y="1809750"/>
            <a:ext cx="5334000" cy="3429000"/>
          </a:xfrm>
          <a:prstGeom xmlns:a="http://schemas.openxmlformats.org/drawingml/2006/main" prst="rect">
            <a:avLst/>
          </a:prstGeom>
          <a:solidFill xmlns:a="http://schemas.openxmlformats.org/drawingml/2006/main">
            <a:srgbClr val="E5F3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7F4DB3-71EA-45AD-AF5C-ADC9C7C1F028}"/>
              </a:ext>
            </a:extLst>
          </p:cNvPr>
          <p:cNvSpPr>
            <a:spLocks xmlns:a="http://schemas.openxmlformats.org/drawingml/2006/main" noGrp="1"/>
          </p:cNvSpPr>
          <p:nvPr/>
        </p:nvSpPr>
        <p:spPr>
          <a:xfrm xmlns:a="http://schemas.openxmlformats.org/drawingml/2006/main">
            <a:off x="781050" y="21907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Dự báo điểm</a:t>
            </a:r>
          </a:p>
        </p:txBody>
      </p:sp>
      <p:sp>
        <p:nvSpPr>
          <p:cNvPr id="7" name="">
            <a:extLst xmlns:a="http://schemas.openxmlformats.org/drawingml/2006/main">
              <a:ext uri="{FF2B5EF4-FFF2-40B4-BE49-F238E27FC236}">
                <a16:creationId xmlns:a16="http://schemas.microsoft.com/office/drawing/2014/main" id="{323F4A47-C5CC-4B6C-BC9F-D45A46B6E867}"/>
              </a:ext>
            </a:extLst>
          </p:cNvPr>
          <p:cNvSpPr>
            <a:spLocks xmlns:a="http://schemas.openxmlformats.org/drawingml/2006/main" noGrp="1"/>
          </p:cNvSpPr>
          <p:nvPr/>
        </p:nvSpPr>
        <p:spPr>
          <a:xfrm xmlns:a="http://schemas.openxmlformats.org/drawingml/2006/main">
            <a:off x="781050" y="2905125"/>
            <a:ext cx="4286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Ŷ0 = β̂0 + β̂1X0</a:t>
            </a:r>
          </a:p>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 2.6313 − 0.1457×3</a:t>
            </a:r>
          </a:p>
          <a:p xmlns:a="http://schemas.openxmlformats.org/drawingml/2006/main">
            <a:pPr algn="l">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 2.1943 triệu</a:t>
            </a:r>
          </a:p>
        </p:txBody>
      </p:sp>
      <p:sp>
        <p:nvSpPr>
          <p:cNvPr id="8" name="">
            <a:extLst xmlns:a="http://schemas.openxmlformats.org/drawingml/2006/main">
              <a:ext uri="{FF2B5EF4-FFF2-40B4-BE49-F238E27FC236}">
                <a16:creationId xmlns:a16="http://schemas.microsoft.com/office/drawing/2014/main" id="{EFBEFD24-AAE6-4FEA-9924-F68FF4AC20A6}"/>
              </a:ext>
            </a:extLst>
          </p:cNvPr>
          <p:cNvSpPr>
            <a:spLocks xmlns:a="http://schemas.openxmlformats.org/drawingml/2006/main" noGrp="1"/>
          </p:cNvSpPr>
          <p:nvPr/>
        </p:nvSpPr>
        <p:spPr>
          <a:xfrm xmlns:a="http://schemas.openxmlformats.org/drawingml/2006/main">
            <a:off x="6381750" y="20002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Khoảng tin cậy 95% cho giá trung bình</a:t>
            </a:r>
          </a:p>
        </p:txBody>
      </p:sp>
      <p:sp>
        <p:nvSpPr>
          <p:cNvPr id="9" name="">
            <a:extLst xmlns:a="http://schemas.openxmlformats.org/drawingml/2006/main">
              <a:ext uri="{FF2B5EF4-FFF2-40B4-BE49-F238E27FC236}">
                <a16:creationId xmlns:a16="http://schemas.microsoft.com/office/drawing/2014/main" id="{20AEC1E0-4B47-4BA1-A85F-5B9BC2EECCFD}"/>
              </a:ext>
            </a:extLst>
          </p:cNvPr>
          <p:cNvSpPr>
            <a:spLocks xmlns:a="http://schemas.openxmlformats.org/drawingml/2006/main" noGrp="1"/>
          </p:cNvSpPr>
          <p:nvPr/>
        </p:nvSpPr>
        <p:spPr>
          <a:xfrm xmlns:a="http://schemas.openxmlformats.org/drawingml/2006/main">
            <a:off x="6381750" y="2857500"/>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238636"/>
                </a:solidFill>
                <a:latin typeface="Helvetica Neue"/>
                <a:ea typeface="Helvetica Neue"/>
                <a:cs typeface="Helvetica Neue"/>
              </a:defRPr>
            </a:pPr>
            <a:r>
              <a:rPr sz="2625" b="1">
                <a:solidFill>
                  <a:srgbClr val="238636"/>
                </a:solidFill>
                <a:latin typeface="Helvetica Neue"/>
                <a:ea typeface="Helvetica Neue"/>
                <a:cs typeface="Helvetica Neue"/>
              </a:rPr>
              <a:t>2.097 – 2.292 triệu</a:t>
            </a:r>
          </a:p>
        </p:txBody>
      </p:sp>
      <p:sp>
        <p:nvSpPr>
          <p:cNvPr id="10" name="">
            <a:extLst xmlns:a="http://schemas.openxmlformats.org/drawingml/2006/main">
              <a:ext uri="{FF2B5EF4-FFF2-40B4-BE49-F238E27FC236}">
                <a16:creationId xmlns:a16="http://schemas.microsoft.com/office/drawing/2014/main" id="{DA53F7CF-7B80-494F-904F-BF89CBEC6B35}"/>
              </a:ext>
            </a:extLst>
          </p:cNvPr>
          <p:cNvSpPr>
            <a:spLocks xmlns:a="http://schemas.openxmlformats.org/drawingml/2006/main" noGrp="1"/>
          </p:cNvSpPr>
          <p:nvPr/>
        </p:nvSpPr>
        <p:spPr>
          <a:xfrm xmlns:a="http://schemas.openxmlformats.org/drawingml/2006/main">
            <a:off x="6381750" y="400050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Khoảng dự báo 95% cho một phòng cụ thể</a:t>
            </a:r>
          </a:p>
        </p:txBody>
      </p:sp>
      <p:sp>
        <p:nvSpPr>
          <p:cNvPr id="11" name="">
            <a:extLst xmlns:a="http://schemas.openxmlformats.org/drawingml/2006/main">
              <a:ext uri="{FF2B5EF4-FFF2-40B4-BE49-F238E27FC236}">
                <a16:creationId xmlns:a16="http://schemas.microsoft.com/office/drawing/2014/main" id="{6FCF1A72-A5EE-4C6A-A262-FD39B397A33F}"/>
              </a:ext>
            </a:extLst>
          </p:cNvPr>
          <p:cNvSpPr>
            <a:spLocks xmlns:a="http://schemas.openxmlformats.org/drawingml/2006/main" noGrp="1"/>
          </p:cNvSpPr>
          <p:nvPr/>
        </p:nvSpPr>
        <p:spPr>
          <a:xfrm xmlns:a="http://schemas.openxmlformats.org/drawingml/2006/main">
            <a:off x="6381750" y="4857750"/>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3D8DFF"/>
                </a:solidFill>
                <a:latin typeface="Helvetica Neue"/>
                <a:ea typeface="Helvetica Neue"/>
                <a:cs typeface="Helvetica Neue"/>
              </a:defRPr>
            </a:pPr>
            <a:r>
              <a:rPr sz="2625" b="1">
                <a:solidFill>
                  <a:srgbClr val="3D8DFF"/>
                </a:solidFill>
                <a:latin typeface="Helvetica Neue"/>
                <a:ea typeface="Helvetica Neue"/>
                <a:cs typeface="Helvetica Neue"/>
              </a:rPr>
              <a:t>1.596 – 2.793 triệu</a:t>
            </a:r>
          </a:p>
        </p:txBody>
      </p:sp>
      <p:sp>
        <p:nvSpPr>
          <p:cNvPr id="12" name="">
            <a:extLst xmlns:a="http://schemas.openxmlformats.org/drawingml/2006/main">
              <a:ext uri="{FF2B5EF4-FFF2-40B4-BE49-F238E27FC236}">
                <a16:creationId xmlns:a16="http://schemas.microsoft.com/office/drawing/2014/main" id="{EE3B7D54-0152-4F9C-B463-6FA90F1EC100}"/>
              </a:ext>
            </a:extLst>
          </p:cNvPr>
          <p:cNvSpPr>
            <a:spLocks xmlns:a="http://schemas.openxmlformats.org/drawingml/2006/main" noGrp="1"/>
          </p:cNvSpPr>
          <p:nvPr/>
        </p:nvSpPr>
        <p:spPr>
          <a:xfrm xmlns:a="http://schemas.openxmlformats.org/drawingml/2006/main">
            <a:off x="400050" y="576262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Khoảng dự báo cá thể rộng hơn vì còn bao gồm biến động riêng của từng phòng.</a:t>
            </a:r>
          </a:p>
        </p:txBody>
      </p:sp>
    </p:spTree>
    <p:extLst>
      <p:ext uri="{BB962C8B-B14F-4D97-AF65-F5344CB8AC3E}">
        <p14:creationId xmlns:p14="http://schemas.microsoft.com/office/powerpoint/2010/main" val="17384865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A8D21F-FAB7-4D20-A196-EC9985C16554}"/>
              </a:ext>
            </a:extLst>
          </p:cNvPr>
          <p:cNvSpPr>
            <a:spLocks xmlns:a="http://schemas.openxmlformats.org/drawingml/2006/main" noGrp="1"/>
          </p:cNvSpPr>
          <p:nvPr/>
        </p:nvSpPr>
        <p:spPr>
          <a:xfrm xmlns:a="http://schemas.openxmlformats.org/drawingml/2006/main">
            <a:off x="400050" y="400050"/>
            <a:ext cx="3048000"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3D8DFF"/>
                </a:solidFill>
                <a:latin typeface="Helvetica Neue"/>
                <a:ea typeface="Helvetica Neue"/>
                <a:cs typeface="Helvetica Neue"/>
              </a:defRPr>
            </a:pPr>
            <a:r>
              <a:t>KẾT LUẬN</a:t>
            </a:r>
          </a:p>
        </p:txBody>
      </p:sp>
      <p:sp>
        <p:nvSpPr>
          <p:cNvPr id="2" name="">
            <a:extLst xmlns:a="http://schemas.openxmlformats.org/drawingml/2006/main">
              <a:ext uri="{FF2B5EF4-FFF2-40B4-BE49-F238E27FC236}">
                <a16:creationId xmlns:a16="http://schemas.microsoft.com/office/drawing/2014/main" id="{3B7DFFB1-D332-498A-AC9D-00406E78D901}"/>
              </a:ext>
            </a:extLst>
          </p:cNvPr>
          <p:cNvSpPr>
            <a:spLocks xmlns:a="http://schemas.openxmlformats.org/drawingml/2006/main" noGrp="1"/>
          </p:cNvSpPr>
          <p:nvPr/>
        </p:nvSpPr>
        <p:spPr>
          <a:xfrm xmlns:a="http://schemas.openxmlformats.org/drawingml/2006/main">
            <a:off x="400050" y="1476375"/>
            <a:ext cx="10287000" cy="171450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defRPr sz="4200" b="1">
                <a:solidFill>
                  <a:srgbClr val="000000"/>
                </a:solidFill>
                <a:latin typeface="Helvetica Neue"/>
                <a:ea typeface="Helvetica Neue"/>
                <a:cs typeface="Helvetica Neue"/>
              </a:defRPr>
            </a:pPr>
            <a:r>
              <a:t>Khoảng cách có quan hệ âm với giá thuê trọ ngoài KTX.</a:t>
            </a:r>
          </a:p>
        </p:txBody>
      </p:sp>
      <p:sp>
        <p:nvSpPr>
          <p:cNvPr id="3" name="">
            <a:extLst xmlns:a="http://schemas.openxmlformats.org/drawingml/2006/main">
              <a:ext uri="{FF2B5EF4-FFF2-40B4-BE49-F238E27FC236}">
                <a16:creationId xmlns:a16="http://schemas.microsoft.com/office/drawing/2014/main" id="{3F977B99-2155-4180-B71E-C2FF15C37E28}"/>
              </a:ext>
            </a:extLst>
          </p:cNvPr>
          <p:cNvSpPr>
            <a:spLocks xmlns:a="http://schemas.openxmlformats.org/drawingml/2006/main" noGrp="1"/>
          </p:cNvSpPr>
          <p:nvPr/>
        </p:nvSpPr>
        <p:spPr>
          <a:xfrm xmlns:a="http://schemas.openxmlformats.org/drawingml/2006/main">
            <a:off x="400050" y="3714750"/>
            <a:ext cx="95250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238636"/>
                </a:solidFill>
                <a:latin typeface="Helvetica Neue"/>
                <a:ea typeface="Helvetica Neue"/>
                <a:cs typeface="Helvetica Neue"/>
              </a:defRPr>
            </a:pPr>
            <a:r>
              <a:t>−146 nghìn đồng/km • R² 45.80% • p 4.01e-9</a:t>
            </a:r>
          </a:p>
        </p:txBody>
      </p:sp>
      <p:sp>
        <p:nvSpPr>
          <p:cNvPr id="4" name="">
            <a:extLst xmlns:a="http://schemas.openxmlformats.org/drawingml/2006/main">
              <a:ext uri="{FF2B5EF4-FFF2-40B4-BE49-F238E27FC236}">
                <a16:creationId xmlns:a16="http://schemas.microsoft.com/office/drawing/2014/main" id="{7314E06F-79F9-40BE-A147-295ADE27770F}"/>
              </a:ext>
            </a:extLst>
          </p:cNvPr>
          <p:cNvSpPr>
            <a:spLocks xmlns:a="http://schemas.openxmlformats.org/drawingml/2006/main" noGrp="1"/>
          </p:cNvSpPr>
          <p:nvPr/>
        </p:nvSpPr>
        <p:spPr>
          <a:xfrm xmlns:a="http://schemas.openxmlformats.org/drawingml/2006/main">
            <a:off x="400050" y="4857750"/>
            <a:ext cx="904875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a:solidFill>
                  <a:srgbClr val="000000"/>
                </a:solidFill>
                <a:latin typeface="Helvetica Neue"/>
                <a:ea typeface="Helvetica Neue"/>
                <a:cs typeface="Helvetica Neue"/>
              </a:defRPr>
            </a:pPr>
            <a:r>
              <a:t>Giới hạn: hồi quy quan sát đơn biến chưa kiểm soát diện tích, nội thất, dịch vụ và chất lượng khu vực.
Bước tiếp theo: mở rộng mẫu và thử hồi quy đa biến.</a:t>
            </a:r>
          </a:p>
        </p:txBody>
      </p:sp>
      <p:sp>
        <p:nvSpPr>
          <p:cNvPr id="5" name="">
            <a:extLst xmlns:a="http://schemas.openxmlformats.org/drawingml/2006/main">
              <a:ext uri="{FF2B5EF4-FFF2-40B4-BE49-F238E27FC236}">
                <a16:creationId xmlns:a16="http://schemas.microsoft.com/office/drawing/2014/main" id="{7763D6C2-2EAA-470C-8E60-4291D8F801C0}"/>
              </a:ext>
            </a:extLst>
          </p:cNvPr>
          <p:cNvSpPr>
            <a:spLocks xmlns:a="http://schemas.openxmlformats.org/drawingml/2006/main" noGrp="1"/>
          </p:cNvSpPr>
          <p:nvPr/>
        </p:nvSpPr>
        <p:spPr>
          <a:xfrm xmlns:a="http://schemas.openxmlformats.org/drawingml/2006/main">
            <a:off x="10763250" y="0"/>
            <a:ext cx="228600" cy="22860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Tree>
    <p:extLst>
      <p:ext uri="{BB962C8B-B14F-4D97-AF65-F5344CB8AC3E}">
        <p14:creationId xmlns:p14="http://schemas.microsoft.com/office/powerpoint/2010/main" val="4657846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2026-07-20T16:55:51.7280000Z</dcterms:created>
  <dcterms:modified xsi:type="dcterms:W3CDTF">2026-07-20T16:55:51.7280000Z</dcterms:modified>
</coreProperties>
</file>